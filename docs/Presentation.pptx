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57" r:id="rId4"/>
    <p:sldId id="258" r:id="rId5"/>
    <p:sldId id="259" r:id="rId6"/>
    <p:sldId id="260" r:id="rId7"/>
    <p:sldId id="261" r:id="rId8"/>
    <p:sldId id="262" r:id="rId9"/>
    <p:sldId id="263" r:id="rId10"/>
    <p:sldId id="309" r:id="rId11"/>
    <p:sldId id="310" r:id="rId12"/>
    <p:sldId id="360" r:id="rId13"/>
    <p:sldId id="311" r:id="rId14"/>
    <p:sldId id="358" r:id="rId15"/>
    <p:sldId id="359" r:id="rId16"/>
    <p:sldId id="361" r:id="rId17"/>
    <p:sldId id="362" r:id="rId18"/>
    <p:sldId id="363" r:id="rId19"/>
    <p:sldId id="264" r:id="rId20"/>
    <p:sldId id="353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4478"/>
    <a:srgbClr val="94A3B8"/>
    <a:srgbClr val="1B3A7A"/>
    <a:srgbClr val="3EDAD8"/>
    <a:srgbClr val="599ECF"/>
    <a:srgbClr val="2D7C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65" autoAdjust="0"/>
    <p:restoredTop sz="94404" autoAdjust="0"/>
  </p:normalViewPr>
  <p:slideViewPr>
    <p:cSldViewPr snapToGrid="0">
      <p:cViewPr varScale="1">
        <p:scale>
          <a:sx n="74" d="100"/>
          <a:sy n="74" d="100"/>
        </p:scale>
        <p:origin x="3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B689FC-CECE-41BD-B889-A2DE6945BEE5}" type="datetimeFigureOut">
              <a:rPr lang="fr-FR" smtClean="0"/>
              <a:t>07/06/2026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27B1F9-240E-48C5-9694-802BB8BAEBD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712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en-US" dirty="0"/>
          </a:p>
          <a:p>
            <a:pPr rtl="0"/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4461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149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order to obtain the bachelor's degree in Business Computing: Business Intelligence Specialty, I have realized an internship at Pixelium to design and develop a skills management and technical evaluation platform, which we called “StackSkill”.</a:t>
            </a:r>
          </a:p>
          <a:p>
            <a:endParaRPr lang="en-US" dirty="0"/>
          </a:p>
          <a:p>
            <a:pPr rtl="0"/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1605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Pixelium is an information technology services, solution, and software development firm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Founded in 2017, located at Sahloul, Sousse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Its expertise is mainly in the fields of mobile and web applications, giving solutions for current technology needs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6442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Raleway" pitchFamily="2" charset="0"/>
                <a:sym typeface="Barlow Semi Condensed"/>
              </a:rPr>
              <a:t>It will be a mighty system that will deal mainly from the part of the candidate with the technical interview  (passing algorithmic challenges) under the supervision of his recruiter. </a:t>
            </a:r>
          </a:p>
          <a:p>
            <a:r>
              <a:rPr lang="en-US" dirty="0"/>
              <a:t>The evaluation of the candidate happens in real time according to his test results.</a:t>
            </a:r>
          </a:p>
          <a:p>
            <a:pPr rtl="0"/>
            <a:r>
              <a:rPr lang="en-US" dirty="0"/>
              <a:t>The recruiter has a crucial part which is the decision making through visualized dashboards.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965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>
                <a:latin typeface="Raleway" pitchFamily="2" charset="0"/>
              </a:rPr>
              <a:t>Many developers are more accustomed to coding with the aid of an IDE and online resources.</a:t>
            </a:r>
          </a:p>
          <a:p>
            <a:pPr marL="228600" indent="-228600" rtl="0">
              <a:buAutoNum type="arabicPeriod"/>
            </a:pPr>
            <a:r>
              <a:rPr lang="en-US" dirty="0"/>
              <a:t>Leading to performance anxiety and potentially impacting their ability to solve problems effectively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9327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HackerRank: cons: Can be intimidating for candidates who might excel in a work environment but not in timed tests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Codility: cons: Can be costly for small companies or startups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rPr>
              <a:t>CodinGame: cons: Focus on games can overshadow the assessment of practical coding skills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04680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candidate is an individual seeking employment who interacts with the platform primarily for the purpose of self-skill evaluation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Raleway" pitchFamily="2" charset="0"/>
              </a:rPr>
              <a:t>A recruiter is responsible for managing the interview process within the platform.</a:t>
            </a:r>
            <a:endParaRPr lang="fr-FR" dirty="0">
              <a:latin typeface="Raleway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>
                <a:latin typeface="Raleway" pitchFamily="2" charset="0"/>
              </a:rPr>
              <a:t>A super </a:t>
            </a:r>
            <a:r>
              <a:rPr lang="fr-FR" dirty="0" err="1">
                <a:latin typeface="Raleway" pitchFamily="2" charset="0"/>
              </a:rPr>
              <a:t>administrator</a:t>
            </a:r>
            <a:r>
              <a:rPr lang="fr-FR" dirty="0">
                <a:latin typeface="Raleway" pitchFamily="2" charset="0"/>
              </a:rPr>
              <a:t> </a:t>
            </a:r>
            <a:r>
              <a:rPr lang="fr-FR" dirty="0" err="1">
                <a:latin typeface="Raleway" pitchFamily="2" charset="0"/>
              </a:rPr>
              <a:t>is</a:t>
            </a:r>
            <a:r>
              <a:rPr lang="fr-FR" dirty="0">
                <a:latin typeface="Raleway" pitchFamily="2" charset="0"/>
              </a:rPr>
              <a:t> the </a:t>
            </a:r>
            <a:r>
              <a:rPr lang="fr-FR" dirty="0" err="1">
                <a:latin typeface="Raleway" pitchFamily="2" charset="0"/>
              </a:rPr>
              <a:t>highest-level</a:t>
            </a:r>
            <a:r>
              <a:rPr lang="fr-FR" dirty="0">
                <a:latin typeface="Raleway" pitchFamily="2" charset="0"/>
              </a:rPr>
              <a:t> user </a:t>
            </a:r>
            <a:r>
              <a:rPr lang="fr-FR" dirty="0" err="1">
                <a:latin typeface="Raleway" pitchFamily="2" charset="0"/>
              </a:rPr>
              <a:t>with</a:t>
            </a:r>
            <a:r>
              <a:rPr lang="fr-FR" dirty="0">
                <a:latin typeface="Raleway" pitchFamily="2" charset="0"/>
              </a:rPr>
              <a:t> </a:t>
            </a:r>
            <a:r>
              <a:rPr lang="fr-FR" dirty="0" err="1">
                <a:latin typeface="Raleway" pitchFamily="2" charset="0"/>
              </a:rPr>
              <a:t>overarching</a:t>
            </a:r>
            <a:r>
              <a:rPr lang="fr-FR" dirty="0">
                <a:latin typeface="Raleway" pitchFamily="2" charset="0"/>
              </a:rPr>
              <a:t> control over the platform.</a:t>
            </a:r>
          </a:p>
          <a:p>
            <a:pPr rtl="0"/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51400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827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>
                <a:latin typeface="Raleway" pitchFamily="2" charset="0"/>
              </a:rPr>
              <a:t>StackSkill emerges as a paramount solution, offering a pivotal feature  essential for real-time interviews. </a:t>
            </a:r>
          </a:p>
          <a:p>
            <a:endParaRPr lang="en-US" dirty="0">
              <a:latin typeface="Raleway" pitchFamily="2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25211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27B1F9-240E-48C5-9694-802BB8BAEBD7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7308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E7A3E-8DC9-FBAD-1224-9F78BCD182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45EA9-65E1-2C42-8344-F56717C2C3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FA587-C508-BC2B-C29E-E57C4A918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59030-F8F7-4B92-B8FB-97AD1E3787A6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B950A-EB78-DBC7-458C-FDB5B8F76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D541D-FA19-DEBA-6939-D784AF097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7269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D944-B801-D950-39C2-4F72BD024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7AB6D-C28C-3DC8-6D7C-79234CCE3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AD734-C9D4-E17D-4767-3DAEEF14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F9583-2E8C-4B2C-9EE8-D50C8F5522EA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A05D2-8D70-483C-801F-B76A6D07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E4B0F-C4BB-8BE8-8656-E991CD2CB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014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1F58F-7861-B23D-C0F7-0C60F21D1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60C94-4A72-5ED3-36E7-2F13425FD6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10B3B4-7819-A015-1DEB-BBABD4CC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6D5FB-D4DD-4933-B7F8-B1B5BAFEF64A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10AF7-4FF6-3AAA-A9BF-B185E622B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1C648-B0F7-281D-2700-E81200E03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69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8DDCE-D525-D507-5E1A-69A0166B1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D2C65-0F28-58F2-60C0-1B88A1812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8078C-566A-1313-D9A7-DCAC8F4CE8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50F88-1C33-4E2A-96CB-8C426641D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1A6C99-469A-4893-94BA-428E11675728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29556-E3D9-8294-9120-ABE7880FD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091E5F-1004-14B2-095B-FF8E13A4E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6344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9DB6D-A263-B1FA-86E3-37F88FE30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7FEAB-B4A6-C8FC-0C2A-CD7A886076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B0C458-20FD-9ABF-38C5-F1759E1A5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1DCD9F-0B3C-FE12-BD55-4397D1B21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51A4AE-756D-B113-378E-941C51ED1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57EE12-AB57-BC12-B22A-78E314964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64115-BD02-4F8F-9BBB-ECA41EF41A3D}" type="datetime1">
              <a:rPr lang="fr-FR" smtClean="0"/>
              <a:t>07/06/2026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FFF4E7-EF49-A3A5-B9C7-89DB6987B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ADDC62-1063-CAE0-6B95-A73310B3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4095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CF0F3-0AB1-0F03-CC51-D47E67D70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3EF550-E491-1136-5395-0FD6164F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1B967-2696-414E-8A14-7FDA5637FDCB}" type="datetime1">
              <a:rPr lang="fr-FR" smtClean="0"/>
              <a:t>07/06/2026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7E52D4-FABC-28D2-0E68-102CF06F4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4C2015-9FC0-E9C0-1635-2BDB30F0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82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FA074B-B026-F992-E4A3-6E38C694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18769-EF7D-4BD6-923E-3ADA40BE0AC8}" type="datetime1">
              <a:rPr lang="fr-FR" smtClean="0"/>
              <a:t>07/06/2026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CE040-B070-BA76-EA84-7C6DEA033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2ED290-5947-6ABB-6821-6FDF65778F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5958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B6AD3-E7EE-F257-B038-92B69ABB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295DC-59DE-E598-E76A-9D03C92E1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FDAC91-8BD2-C1B7-CF7E-6BBD20138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98130-E52C-285A-2297-F5F0E99A7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FDD9E0-67C0-42F7-9DE1-DA0EB96DC0EF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66CE78-E4A0-2F9E-477A-5D7B7257B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34A71-3B88-FD06-AB34-C70252DF8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097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E73A9-E387-6F02-5D6D-A8A8947E6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2D267F-7AB6-9725-3862-D84718203D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CB1EDD-EF24-B37B-02D6-D0FB0728C4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329A0-9F24-82DF-E09D-F634B85C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9AB20-D15C-4A61-BCBE-3869C600DA35}" type="datetime1">
              <a:rPr lang="fr-FR" smtClean="0"/>
              <a:t>07/06/2026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69F1D-5F8E-CE82-4BE1-2EDB7C43A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4F4799-E8A5-B0F4-AE6A-C0E875C75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353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F0CC-AA07-E930-E61D-15752F731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D5DF1-E11E-72B4-8BF1-4EDE8824E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E82A2-EB17-7541-2F1C-4F280202E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2E571F-2F24-4BB6-84C2-E8B073FC9EBA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95D66-797A-147D-CB6A-4A1131AE5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4D233C-D04E-B9B9-7C24-D28C32ADE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7113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777978-4CA6-E7F5-3813-0FE43479E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9BD313-4EDF-64BF-A5FC-B4CCE30C8F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1CE00-C3D7-946E-746A-1012FEFA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016E15-2F9F-47F8-A877-B8DEB0299D65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E1DC4-CFA9-A0CB-1F01-2E7860507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CD7C77-D90B-1272-09B5-54FB5DA5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81678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DEB4EE-AA42-B65B-3B27-549BAC7F6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82965-FE43-D580-BB7B-42BC6AC678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7DA53-E978-A568-4A7F-C129CDBE4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20645-C31B-4F15-9FCB-FFB4A2069DB9}" type="datetime1">
              <a:rPr lang="fr-FR" smtClean="0"/>
              <a:t>07/06/2026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2D560-EFD5-4401-5461-42AEBA722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9928A-4153-FE9A-13C5-DA13ED03CB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2D46A-19D1-4078-986C-B8D896ADDE7E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29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sv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12" Type="http://schemas.openxmlformats.org/officeDocument/2006/relationships/image" Target="../media/image24.svg"/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svg"/><Relationship Id="rId9" Type="http://schemas.openxmlformats.org/officeDocument/2006/relationships/image" Target="../media/image21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1885;p35">
            <a:extLst>
              <a:ext uri="{FF2B5EF4-FFF2-40B4-BE49-F238E27FC236}">
                <a16:creationId xmlns:a16="http://schemas.microsoft.com/office/drawing/2014/main" id="{B3D0B45A-FE2D-B6E7-D4A7-3A0C03B3FE38}"/>
              </a:ext>
            </a:extLst>
          </p:cNvPr>
          <p:cNvSpPr txBox="1">
            <a:spLocks/>
          </p:cNvSpPr>
          <p:nvPr/>
        </p:nvSpPr>
        <p:spPr>
          <a:xfrm>
            <a:off x="76577" y="346327"/>
            <a:ext cx="12191999" cy="1194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Semi Condensed Medium"/>
              <a:buNone/>
              <a:defRPr sz="2800" b="0" i="0" u="none" strike="noStrike" cap="none">
                <a:solidFill>
                  <a:schemeClr val="accent1"/>
                </a:solidFill>
                <a:latin typeface="Barlow Semi Condensed Medium"/>
                <a:ea typeface="Barlow Semi Condensed Medium"/>
                <a:cs typeface="Barlow Semi Condensed Medium"/>
                <a:sym typeface="Barlow Semi Condensed Medium"/>
              </a:defRPr>
            </a:lvl9pPr>
          </a:lstStyle>
          <a:p>
            <a:pPr algn="ctr"/>
            <a:r>
              <a:rPr lang="en-US" sz="21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Studies Project Presentation </a:t>
            </a:r>
          </a:p>
          <a:p>
            <a:pPr algn="ctr"/>
            <a:r>
              <a:rPr lang="en-US" sz="21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to obtain the bachelor's degree in </a:t>
            </a:r>
          </a:p>
          <a:p>
            <a:pPr algn="ctr"/>
            <a:r>
              <a:rPr lang="en-US" sz="2133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Computing : Business Intelligence Specialty</a:t>
            </a:r>
            <a:endParaRPr lang="fr-FR" sz="2133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4E02458-27ED-428D-A706-71DB4350B159}"/>
              </a:ext>
            </a:extLst>
          </p:cNvPr>
          <p:cNvSpPr txBox="1"/>
          <p:nvPr/>
        </p:nvSpPr>
        <p:spPr>
          <a:xfrm>
            <a:off x="3159761" y="2983713"/>
            <a:ext cx="5888199" cy="1107996"/>
          </a:xfrm>
          <a:prstGeom prst="rect">
            <a:avLst/>
          </a:prstGeom>
          <a:noFill/>
          <a:ln>
            <a:solidFill>
              <a:schemeClr val="tx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204478"/>
                </a:solidFill>
                <a:latin typeface="Raleway" pitchFamily="2" charset="0"/>
              </a:rPr>
              <a:t>Design and development of a Web-Based Project Management and Business Intelligence Application</a:t>
            </a:r>
            <a:endParaRPr lang="fr-FR" sz="2200" b="1" dirty="0">
              <a:solidFill>
                <a:srgbClr val="204478"/>
              </a:solidFill>
              <a:latin typeface="Raleway" pitchFamily="2" charset="0"/>
            </a:endParaRPr>
          </a:p>
        </p:txBody>
      </p:sp>
      <p:sp>
        <p:nvSpPr>
          <p:cNvPr id="28" name="Google Shape;2139;p37">
            <a:extLst>
              <a:ext uri="{FF2B5EF4-FFF2-40B4-BE49-F238E27FC236}">
                <a16:creationId xmlns:a16="http://schemas.microsoft.com/office/drawing/2014/main" id="{679DA83E-C008-1D2F-F914-43EFD8A09972}"/>
              </a:ext>
            </a:extLst>
          </p:cNvPr>
          <p:cNvSpPr txBox="1">
            <a:spLocks noGrp="1"/>
          </p:cNvSpPr>
          <p:nvPr/>
        </p:nvSpPr>
        <p:spPr>
          <a:xfrm>
            <a:off x="1599007" y="5035376"/>
            <a:ext cx="4575139" cy="11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1867" b="1" dirty="0">
                <a:latin typeface="Raleway" pitchFamily="2" charset="0"/>
              </a:rPr>
              <a:t>Under the direction of: </a:t>
            </a:r>
          </a:p>
          <a:p>
            <a:pPr marL="380990" indent="-380990">
              <a:buClr>
                <a:schemeClr val="dk1"/>
              </a:buClr>
              <a:buSzPts val="1100"/>
              <a:buFontTx/>
              <a:buChar char="-"/>
            </a:pPr>
            <a:r>
              <a:rPr lang="en-US" sz="1867" dirty="0">
                <a:latin typeface="Raleway" pitchFamily="2" charset="0"/>
              </a:rPr>
              <a:t>Mr. Trigui Omar</a:t>
            </a:r>
          </a:p>
          <a:p>
            <a:pPr marL="380990" indent="-380990">
              <a:buClr>
                <a:schemeClr val="dk1"/>
              </a:buClr>
              <a:buSzPts val="1100"/>
              <a:buFontTx/>
              <a:buChar char="-"/>
            </a:pPr>
            <a:r>
              <a:rPr lang="en-US" sz="1867" dirty="0">
                <a:latin typeface="Raleway" pitchFamily="2" charset="0"/>
              </a:rPr>
              <a:t>Mr. Jawhar Letaief</a:t>
            </a:r>
            <a:endParaRPr sz="1867" dirty="0">
              <a:latin typeface="Raleway" pitchFamily="2" charset="0"/>
            </a:endParaRPr>
          </a:p>
        </p:txBody>
      </p:sp>
      <p:sp>
        <p:nvSpPr>
          <p:cNvPr id="29" name="Google Shape;2139;p37">
            <a:extLst>
              <a:ext uri="{FF2B5EF4-FFF2-40B4-BE49-F238E27FC236}">
                <a16:creationId xmlns:a16="http://schemas.microsoft.com/office/drawing/2014/main" id="{9B42B2EA-F7EA-8F44-3F36-F32357700C65}"/>
              </a:ext>
            </a:extLst>
          </p:cNvPr>
          <p:cNvSpPr txBox="1">
            <a:spLocks noGrp="1"/>
          </p:cNvSpPr>
          <p:nvPr/>
        </p:nvSpPr>
        <p:spPr>
          <a:xfrm>
            <a:off x="8210242" y="5035376"/>
            <a:ext cx="2133121" cy="11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>
              <a:buClr>
                <a:schemeClr val="dk1"/>
              </a:buClr>
              <a:buSzPts val="1100"/>
            </a:pPr>
            <a:r>
              <a:rPr lang="en-US" sz="1867" b="1" dirty="0">
                <a:latin typeface="Raleway" pitchFamily="2" charset="0"/>
              </a:rPr>
              <a:t>Presented By:</a:t>
            </a:r>
          </a:p>
          <a:p>
            <a:pPr marL="380990" indent="-380990">
              <a:buClr>
                <a:schemeClr val="dk1"/>
              </a:buClr>
              <a:buSzPts val="1100"/>
              <a:buFontTx/>
              <a:buChar char="-"/>
            </a:pPr>
            <a:r>
              <a:rPr lang="en-US" sz="1867" dirty="0">
                <a:latin typeface="Raleway" pitchFamily="2" charset="0"/>
              </a:rPr>
              <a:t>Mahdi Mlika</a:t>
            </a:r>
            <a:endParaRPr sz="1867" dirty="0">
              <a:latin typeface="Raleway" pitchFamily="2" charset="0"/>
            </a:endParaRPr>
          </a:p>
        </p:txBody>
      </p:sp>
      <p:sp>
        <p:nvSpPr>
          <p:cNvPr id="30" name="Google Shape;2139;p37">
            <a:extLst>
              <a:ext uri="{FF2B5EF4-FFF2-40B4-BE49-F238E27FC236}">
                <a16:creationId xmlns:a16="http://schemas.microsoft.com/office/drawing/2014/main" id="{7E886E04-D7A5-5A82-FC8D-F61141B404DA}"/>
              </a:ext>
            </a:extLst>
          </p:cNvPr>
          <p:cNvSpPr txBox="1">
            <a:spLocks noGrp="1"/>
          </p:cNvSpPr>
          <p:nvPr/>
        </p:nvSpPr>
        <p:spPr>
          <a:xfrm>
            <a:off x="4623518" y="6159251"/>
            <a:ext cx="2944963" cy="4868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600" b="0" i="0" u="none" strike="noStrike" cap="none">
                <a:solidFill>
                  <a:schemeClr val="dk2"/>
                </a:solidFill>
                <a:latin typeface="Barlow Semi Condensed"/>
                <a:ea typeface="Barlow Semi Condensed"/>
                <a:cs typeface="Barlow Semi Condensed"/>
                <a:sym typeface="Barlow Semi Condensed"/>
              </a:defRPr>
            </a:lvl9pPr>
          </a:lstStyle>
          <a:p>
            <a:pPr algn="ctr">
              <a:buClr>
                <a:schemeClr val="dk1"/>
              </a:buClr>
              <a:buSzPts val="1100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2025 - 2026</a:t>
            </a:r>
            <a:endParaRPr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C5AD15D-EE29-41FE-DB7A-2BE84B4C438A}"/>
              </a:ext>
            </a:extLst>
          </p:cNvPr>
          <p:cNvCxnSpPr/>
          <p:nvPr/>
        </p:nvCxnSpPr>
        <p:spPr>
          <a:xfrm>
            <a:off x="3175864" y="1771812"/>
            <a:ext cx="588819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339886-39F9-9834-86BF-AC73DB298124}"/>
              </a:ext>
            </a:extLst>
          </p:cNvPr>
          <p:cNvCxnSpPr>
            <a:cxnSpLocks/>
          </p:cNvCxnSpPr>
          <p:nvPr/>
        </p:nvCxnSpPr>
        <p:spPr>
          <a:xfrm>
            <a:off x="3175864" y="4686196"/>
            <a:ext cx="592375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5A7B6CD9-5EB4-313F-5D30-A670276E7D3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47" r="18297"/>
          <a:stretch>
            <a:fillRect/>
          </a:stretch>
        </p:blipFill>
        <p:spPr bwMode="auto">
          <a:xfrm>
            <a:off x="0" y="150951"/>
            <a:ext cx="2277734" cy="183023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5A26FE-ED3E-5818-0D08-9D53F53FE1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418" y="150951"/>
            <a:ext cx="2006048" cy="17929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9C88C7-4415-F328-AE64-9E7ACD6CC8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375" y="4406688"/>
            <a:ext cx="2381250" cy="23812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396D8F-4146-C97D-EDBC-56ED9CF22A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896" y="1020341"/>
            <a:ext cx="4393360" cy="292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6450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0">
            <a:extLst>
              <a:ext uri="{FF2B5EF4-FFF2-40B4-BE49-F238E27FC236}">
                <a16:creationId xmlns:a16="http://schemas.microsoft.com/office/drawing/2014/main" id="{9C1CBF63-DB93-6B1A-526B-143D7D519DBD}"/>
              </a:ext>
            </a:extLst>
          </p:cNvPr>
          <p:cNvSpPr/>
          <p:nvPr/>
        </p:nvSpPr>
        <p:spPr>
          <a:xfrm>
            <a:off x="11140440" y="-9144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F58928EA-7387-9966-C99C-F99AC1C1FBA7}"/>
              </a:ext>
            </a:extLst>
          </p:cNvPr>
          <p:cNvSpPr/>
          <p:nvPr/>
        </p:nvSpPr>
        <p:spPr>
          <a:xfrm>
            <a:off x="11597640" y="-9144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0756A5D2-06BA-6B39-3402-8693AE75C165}"/>
              </a:ext>
            </a:extLst>
          </p:cNvPr>
          <p:cNvSpPr/>
          <p:nvPr/>
        </p:nvSpPr>
        <p:spPr>
          <a:xfrm>
            <a:off x="0" y="6057900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5C1DD746-A40A-42CB-DB77-0FC3C8730E6F}"/>
              </a:ext>
            </a:extLst>
          </p:cNvPr>
          <p:cNvSpPr/>
          <p:nvPr/>
        </p:nvSpPr>
        <p:spPr>
          <a:xfrm>
            <a:off x="0" y="6405372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58939C2-BF66-BC96-2F46-C4B6BA97FDB6}"/>
              </a:ext>
            </a:extLst>
          </p:cNvPr>
          <p:cNvSpPr/>
          <p:nvPr/>
        </p:nvSpPr>
        <p:spPr>
          <a:xfrm>
            <a:off x="457200" y="18288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3A7A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2E6858B7-E55C-0C8A-3B63-A351A5F48F92}"/>
              </a:ext>
            </a:extLst>
          </p:cNvPr>
          <p:cNvSpPr/>
          <p:nvPr/>
        </p:nvSpPr>
        <p:spPr>
          <a:xfrm>
            <a:off x="457200" y="768096"/>
            <a:ext cx="1463040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3FCEB587-0CFC-0773-8747-78C58EC71220}"/>
              </a:ext>
            </a:extLst>
          </p:cNvPr>
          <p:cNvSpPr/>
          <p:nvPr/>
        </p:nvSpPr>
        <p:spPr>
          <a:xfrm>
            <a:off x="6096000" y="949941"/>
            <a:ext cx="585216" cy="585216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5C5C43D-08A7-856A-5BDD-5D67A8E91939}"/>
              </a:ext>
            </a:extLst>
          </p:cNvPr>
          <p:cNvSpPr/>
          <p:nvPr/>
        </p:nvSpPr>
        <p:spPr>
          <a:xfrm>
            <a:off x="6096000" y="942319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C4F33E82-1562-F596-E3EF-1C786381EF09}"/>
              </a:ext>
            </a:extLst>
          </p:cNvPr>
          <p:cNvSpPr/>
          <p:nvPr/>
        </p:nvSpPr>
        <p:spPr>
          <a:xfrm>
            <a:off x="6754368" y="949941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General Project Context</a:t>
            </a:r>
            <a:endParaRPr lang="en-US" sz="20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C9DFB494-33BE-C1A8-8DA2-84754EEF12AC}"/>
              </a:ext>
            </a:extLst>
          </p:cNvPr>
          <p:cNvSpPr/>
          <p:nvPr/>
        </p:nvSpPr>
        <p:spPr>
          <a:xfrm>
            <a:off x="6096000" y="1835395"/>
            <a:ext cx="585216" cy="585216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E3817EBF-D633-0BE3-B2C8-8EDB1501B2B0}"/>
              </a:ext>
            </a:extLst>
          </p:cNvPr>
          <p:cNvSpPr/>
          <p:nvPr/>
        </p:nvSpPr>
        <p:spPr>
          <a:xfrm>
            <a:off x="6096000" y="1835395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0B82FED3-245A-F504-D37C-68CE91C90A7E}"/>
              </a:ext>
            </a:extLst>
          </p:cNvPr>
          <p:cNvSpPr/>
          <p:nvPr/>
        </p:nvSpPr>
        <p:spPr>
          <a:xfrm>
            <a:off x="6754367" y="1835395"/>
            <a:ext cx="517516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E293B"/>
                </a:solidFill>
              </a:rPr>
              <a:t>Existing System Analysis &amp; Solution</a:t>
            </a:r>
            <a:endParaRPr lang="en-US" sz="20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BAB502EF-276F-02DF-91F5-66AD2FF16B78}"/>
              </a:ext>
            </a:extLst>
          </p:cNvPr>
          <p:cNvSpPr/>
          <p:nvPr/>
        </p:nvSpPr>
        <p:spPr>
          <a:xfrm>
            <a:off x="6096000" y="2819229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28" name="Shape 15">
            <a:extLst>
              <a:ext uri="{FF2B5EF4-FFF2-40B4-BE49-F238E27FC236}">
                <a16:creationId xmlns:a16="http://schemas.microsoft.com/office/drawing/2014/main" id="{7BBBC95D-02E6-499F-DF70-265B07CB60D3}"/>
              </a:ext>
            </a:extLst>
          </p:cNvPr>
          <p:cNvSpPr/>
          <p:nvPr/>
        </p:nvSpPr>
        <p:spPr>
          <a:xfrm>
            <a:off x="6096001" y="2726014"/>
            <a:ext cx="585216" cy="585216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29" name="Text 16">
            <a:extLst>
              <a:ext uri="{FF2B5EF4-FFF2-40B4-BE49-F238E27FC236}">
                <a16:creationId xmlns:a16="http://schemas.microsoft.com/office/drawing/2014/main" id="{C85AF3FD-77BD-FE7D-04E1-B046AA91706A}"/>
              </a:ext>
            </a:extLst>
          </p:cNvPr>
          <p:cNvSpPr/>
          <p:nvPr/>
        </p:nvSpPr>
        <p:spPr>
          <a:xfrm>
            <a:off x="6096001" y="27426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FF60D938-514D-8441-7B2F-07683D731C48}"/>
              </a:ext>
            </a:extLst>
          </p:cNvPr>
          <p:cNvSpPr/>
          <p:nvPr/>
        </p:nvSpPr>
        <p:spPr>
          <a:xfrm>
            <a:off x="6754369" y="2737527"/>
            <a:ext cx="46925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Analysis &amp; Requirements</a:t>
            </a:r>
            <a:endParaRPr lang="en-US" sz="2000" dirty="0"/>
          </a:p>
        </p:txBody>
      </p:sp>
      <p:sp>
        <p:nvSpPr>
          <p:cNvPr id="31" name="Shape 18">
            <a:extLst>
              <a:ext uri="{FF2B5EF4-FFF2-40B4-BE49-F238E27FC236}">
                <a16:creationId xmlns:a16="http://schemas.microsoft.com/office/drawing/2014/main" id="{17056A91-0A0D-A114-055A-E33AC4A281CB}"/>
              </a:ext>
            </a:extLst>
          </p:cNvPr>
          <p:cNvSpPr/>
          <p:nvPr/>
        </p:nvSpPr>
        <p:spPr>
          <a:xfrm>
            <a:off x="6096000" y="4433683"/>
            <a:ext cx="585216" cy="585216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5E8289D8-6362-4F69-0C7E-48CE434AD876}"/>
              </a:ext>
            </a:extLst>
          </p:cNvPr>
          <p:cNvSpPr/>
          <p:nvPr/>
        </p:nvSpPr>
        <p:spPr>
          <a:xfrm>
            <a:off x="6096000" y="4433683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33" name="Text 20">
            <a:extLst>
              <a:ext uri="{FF2B5EF4-FFF2-40B4-BE49-F238E27FC236}">
                <a16:creationId xmlns:a16="http://schemas.microsoft.com/office/drawing/2014/main" id="{A56F1294-414B-96C6-9138-84EF187D9889}"/>
              </a:ext>
            </a:extLst>
          </p:cNvPr>
          <p:cNvSpPr/>
          <p:nvPr/>
        </p:nvSpPr>
        <p:spPr>
          <a:xfrm>
            <a:off x="6754368" y="4433683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1A65AAA9-DBCB-5CFB-60C8-861631BAB4F9}"/>
              </a:ext>
            </a:extLst>
          </p:cNvPr>
          <p:cNvSpPr/>
          <p:nvPr/>
        </p:nvSpPr>
        <p:spPr>
          <a:xfrm>
            <a:off x="10779761" y="2226309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sp>
        <p:nvSpPr>
          <p:cNvPr id="44" name="Shape 26">
            <a:extLst>
              <a:ext uri="{FF2B5EF4-FFF2-40B4-BE49-F238E27FC236}">
                <a16:creationId xmlns:a16="http://schemas.microsoft.com/office/drawing/2014/main" id="{2271D0B8-0BC1-60F8-8C6F-E85158F538A9}"/>
              </a:ext>
            </a:extLst>
          </p:cNvPr>
          <p:cNvSpPr/>
          <p:nvPr/>
        </p:nvSpPr>
        <p:spPr>
          <a:xfrm>
            <a:off x="11677227" y="6405372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45" name="Text 27">
            <a:extLst>
              <a:ext uri="{FF2B5EF4-FFF2-40B4-BE49-F238E27FC236}">
                <a16:creationId xmlns:a16="http://schemas.microsoft.com/office/drawing/2014/main" id="{D487DFDC-6463-6924-A24C-CE239DDC99E3}"/>
              </a:ext>
            </a:extLst>
          </p:cNvPr>
          <p:cNvSpPr/>
          <p:nvPr/>
        </p:nvSpPr>
        <p:spPr>
          <a:xfrm>
            <a:off x="11668760" y="640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50" name="Shape 21">
            <a:extLst>
              <a:ext uri="{FF2B5EF4-FFF2-40B4-BE49-F238E27FC236}">
                <a16:creationId xmlns:a16="http://schemas.microsoft.com/office/drawing/2014/main" id="{7B4F87AD-E067-2527-461D-114AB8676DEC}"/>
              </a:ext>
            </a:extLst>
          </p:cNvPr>
          <p:cNvSpPr/>
          <p:nvPr/>
        </p:nvSpPr>
        <p:spPr>
          <a:xfrm>
            <a:off x="6096000" y="5277866"/>
            <a:ext cx="585216" cy="585216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2000" dirty="0"/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F2902DFD-2F65-31E7-82C8-4A2AC38DDD95}"/>
              </a:ext>
            </a:extLst>
          </p:cNvPr>
          <p:cNvSpPr/>
          <p:nvPr/>
        </p:nvSpPr>
        <p:spPr>
          <a:xfrm>
            <a:off x="6096000" y="529454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06</a:t>
            </a:r>
            <a:endParaRPr lang="en-US" sz="2000" dirty="0"/>
          </a:p>
        </p:txBody>
      </p:sp>
      <p:sp>
        <p:nvSpPr>
          <p:cNvPr id="52" name="Text 23">
            <a:extLst>
              <a:ext uri="{FF2B5EF4-FFF2-40B4-BE49-F238E27FC236}">
                <a16:creationId xmlns:a16="http://schemas.microsoft.com/office/drawing/2014/main" id="{EB117594-64C8-C6C7-6063-55DD7E8805E5}"/>
              </a:ext>
            </a:extLst>
          </p:cNvPr>
          <p:cNvSpPr/>
          <p:nvPr/>
        </p:nvSpPr>
        <p:spPr>
          <a:xfrm>
            <a:off x="6754368" y="5277866"/>
            <a:ext cx="41625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Conclusion &amp; Perspectives</a:t>
            </a:r>
            <a:endParaRPr lang="en-US" sz="2000" dirty="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B7343DDF-695A-7855-521E-F296F4C362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522"/>
          <a:stretch>
            <a:fillRect/>
          </a:stretch>
        </p:blipFill>
        <p:spPr>
          <a:xfrm>
            <a:off x="1275080" y="1993142"/>
            <a:ext cx="3549365" cy="3067124"/>
          </a:xfrm>
          <a:prstGeom prst="rect">
            <a:avLst/>
          </a:prstGeom>
        </p:spPr>
      </p:pic>
      <p:sp>
        <p:nvSpPr>
          <p:cNvPr id="2" name="Shape 18">
            <a:extLst>
              <a:ext uri="{FF2B5EF4-FFF2-40B4-BE49-F238E27FC236}">
                <a16:creationId xmlns:a16="http://schemas.microsoft.com/office/drawing/2014/main" id="{3D34605F-0BB8-6029-4910-54F70B406BCA}"/>
              </a:ext>
            </a:extLst>
          </p:cNvPr>
          <p:cNvSpPr/>
          <p:nvPr/>
        </p:nvSpPr>
        <p:spPr>
          <a:xfrm>
            <a:off x="6096000" y="3585605"/>
            <a:ext cx="585216" cy="585216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2000"/>
          </a:p>
        </p:txBody>
      </p:sp>
      <p:sp>
        <p:nvSpPr>
          <p:cNvPr id="3" name="Text 19">
            <a:extLst>
              <a:ext uri="{FF2B5EF4-FFF2-40B4-BE49-F238E27FC236}">
                <a16:creationId xmlns:a16="http://schemas.microsoft.com/office/drawing/2014/main" id="{7050E4BC-5176-7395-1FBD-C467D2FBD4BA}"/>
              </a:ext>
            </a:extLst>
          </p:cNvPr>
          <p:cNvSpPr/>
          <p:nvPr/>
        </p:nvSpPr>
        <p:spPr>
          <a:xfrm>
            <a:off x="6096000" y="3585605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sp>
        <p:nvSpPr>
          <p:cNvPr id="4" name="Text 20">
            <a:extLst>
              <a:ext uri="{FF2B5EF4-FFF2-40B4-BE49-F238E27FC236}">
                <a16:creationId xmlns:a16="http://schemas.microsoft.com/office/drawing/2014/main" id="{A35B7AAF-A818-5172-35C8-988116A2629F}"/>
              </a:ext>
            </a:extLst>
          </p:cNvPr>
          <p:cNvSpPr/>
          <p:nvPr/>
        </p:nvSpPr>
        <p:spPr>
          <a:xfrm>
            <a:off x="6754368" y="3585605"/>
            <a:ext cx="3291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dirty="0">
                <a:solidFill>
                  <a:srgbClr val="1E293B"/>
                </a:solidFill>
              </a:rPr>
              <a:t>Design &amp; Architecture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0802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809A9D9C-A876-A987-8402-C355A962603E}"/>
              </a:ext>
            </a:extLst>
          </p:cNvPr>
          <p:cNvSpPr/>
          <p:nvPr/>
        </p:nvSpPr>
        <p:spPr>
          <a:xfrm>
            <a:off x="1051560" y="1211835"/>
            <a:ext cx="4983483" cy="4030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AEEF6"/>
                </a:solidFill>
              </a:rPr>
              <a:t>01</a:t>
            </a:r>
            <a:endParaRPr lang="en-US" sz="1500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9D3C861-5BF8-928A-6144-83BE0C8BBA78}"/>
              </a:ext>
            </a:extLst>
          </p:cNvPr>
          <p:cNvSpPr/>
          <p:nvPr/>
        </p:nvSpPr>
        <p:spPr>
          <a:xfrm>
            <a:off x="1783081" y="2802891"/>
            <a:ext cx="7226050" cy="45719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A184463-5204-54DA-7EB6-F24AB543E85A}"/>
              </a:ext>
            </a:extLst>
          </p:cNvPr>
          <p:cNvSpPr/>
          <p:nvPr/>
        </p:nvSpPr>
        <p:spPr>
          <a:xfrm>
            <a:off x="1783081" y="2912619"/>
            <a:ext cx="9966966" cy="80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7A"/>
                </a:solidFill>
              </a:rPr>
              <a:t>General Project Context</a:t>
            </a:r>
            <a:endParaRPr lang="en-US" sz="280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3101273-B7A5-9298-0EAB-A02DDA1E0D90}"/>
              </a:ext>
            </a:extLst>
          </p:cNvPr>
          <p:cNvSpPr/>
          <p:nvPr/>
        </p:nvSpPr>
        <p:spPr>
          <a:xfrm>
            <a:off x="11140440" y="0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51A77225-9531-B2E8-7A70-5C09489AC2F5}"/>
              </a:ext>
            </a:extLst>
          </p:cNvPr>
          <p:cNvSpPr/>
          <p:nvPr/>
        </p:nvSpPr>
        <p:spPr>
          <a:xfrm>
            <a:off x="11597640" y="0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32FDE5C4-2DF2-4424-CB49-D4020F3588C9}"/>
              </a:ext>
            </a:extLst>
          </p:cNvPr>
          <p:cNvSpPr/>
          <p:nvPr/>
        </p:nvSpPr>
        <p:spPr>
          <a:xfrm>
            <a:off x="0" y="6040967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0B6C83F-F7A6-4B6F-0D25-83B759F13B19}"/>
              </a:ext>
            </a:extLst>
          </p:cNvPr>
          <p:cNvSpPr/>
          <p:nvPr/>
        </p:nvSpPr>
        <p:spPr>
          <a:xfrm>
            <a:off x="0" y="6388439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26">
            <a:extLst>
              <a:ext uri="{FF2B5EF4-FFF2-40B4-BE49-F238E27FC236}">
                <a16:creationId xmlns:a16="http://schemas.microsoft.com/office/drawing/2014/main" id="{E3711DFC-BC37-B841-380E-D38B55EE4049}"/>
              </a:ext>
            </a:extLst>
          </p:cNvPr>
          <p:cNvSpPr/>
          <p:nvPr/>
        </p:nvSpPr>
        <p:spPr>
          <a:xfrm>
            <a:off x="11677227" y="6405372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13" name="Text 27">
            <a:extLst>
              <a:ext uri="{FF2B5EF4-FFF2-40B4-BE49-F238E27FC236}">
                <a16:creationId xmlns:a16="http://schemas.microsoft.com/office/drawing/2014/main" id="{4B3B1503-79B0-8301-182D-107D5F8FEF2A}"/>
              </a:ext>
            </a:extLst>
          </p:cNvPr>
          <p:cNvSpPr/>
          <p:nvPr/>
        </p:nvSpPr>
        <p:spPr>
          <a:xfrm>
            <a:off x="11668760" y="640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88902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>
            <a:extLst>
              <a:ext uri="{FF2B5EF4-FFF2-40B4-BE49-F238E27FC236}">
                <a16:creationId xmlns:a16="http://schemas.microsoft.com/office/drawing/2014/main" id="{8D8EA447-5650-CCCF-D319-B7165FD6E5AA}"/>
              </a:ext>
            </a:extLst>
          </p:cNvPr>
          <p:cNvSpPr/>
          <p:nvPr/>
        </p:nvSpPr>
        <p:spPr>
          <a:xfrm>
            <a:off x="11140440" y="0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Shape 1">
            <a:extLst>
              <a:ext uri="{FF2B5EF4-FFF2-40B4-BE49-F238E27FC236}">
                <a16:creationId xmlns:a16="http://schemas.microsoft.com/office/drawing/2014/main" id="{24EEC558-E50B-B787-9BFF-7E4FA6B1313E}"/>
              </a:ext>
            </a:extLst>
          </p:cNvPr>
          <p:cNvSpPr/>
          <p:nvPr/>
        </p:nvSpPr>
        <p:spPr>
          <a:xfrm>
            <a:off x="11597640" y="0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2">
            <a:extLst>
              <a:ext uri="{FF2B5EF4-FFF2-40B4-BE49-F238E27FC236}">
                <a16:creationId xmlns:a16="http://schemas.microsoft.com/office/drawing/2014/main" id="{8D0128D7-4E1D-B135-72FD-5A7BDA13092D}"/>
              </a:ext>
            </a:extLst>
          </p:cNvPr>
          <p:cNvSpPr/>
          <p:nvPr/>
        </p:nvSpPr>
        <p:spPr>
          <a:xfrm>
            <a:off x="0" y="6051974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Shape 3">
            <a:extLst>
              <a:ext uri="{FF2B5EF4-FFF2-40B4-BE49-F238E27FC236}">
                <a16:creationId xmlns:a16="http://schemas.microsoft.com/office/drawing/2014/main" id="{F2129B85-E490-2783-B1CB-24F603B74D56}"/>
              </a:ext>
            </a:extLst>
          </p:cNvPr>
          <p:cNvSpPr/>
          <p:nvPr/>
        </p:nvSpPr>
        <p:spPr>
          <a:xfrm>
            <a:off x="0" y="6399446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4">
            <a:extLst>
              <a:ext uri="{FF2B5EF4-FFF2-40B4-BE49-F238E27FC236}">
                <a16:creationId xmlns:a16="http://schemas.microsoft.com/office/drawing/2014/main" id="{16D0FEAE-2244-D33A-3623-39228C7C54B4}"/>
              </a:ext>
            </a:extLst>
          </p:cNvPr>
          <p:cNvSpPr/>
          <p:nvPr/>
        </p:nvSpPr>
        <p:spPr>
          <a:xfrm>
            <a:off x="320040" y="155448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5">
            <a:extLst>
              <a:ext uri="{FF2B5EF4-FFF2-40B4-BE49-F238E27FC236}">
                <a16:creationId xmlns:a16="http://schemas.microsoft.com/office/drawing/2014/main" id="{3A4582C7-FF95-5CC7-C4A6-3D3214EB3DDB}"/>
              </a:ext>
            </a:extLst>
          </p:cNvPr>
          <p:cNvSpPr/>
          <p:nvPr/>
        </p:nvSpPr>
        <p:spPr>
          <a:xfrm>
            <a:off x="475488" y="11887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General Project Context</a:t>
            </a:r>
            <a:endParaRPr lang="en-US" sz="1900" dirty="0"/>
          </a:p>
        </p:txBody>
      </p:sp>
      <p:sp>
        <p:nvSpPr>
          <p:cNvPr id="66" name="Text 6">
            <a:extLst>
              <a:ext uri="{FF2B5EF4-FFF2-40B4-BE49-F238E27FC236}">
                <a16:creationId xmlns:a16="http://schemas.microsoft.com/office/drawing/2014/main" id="{EFC4BDFD-EBD1-03E2-1677-0F19A0A913A9}"/>
              </a:ext>
            </a:extLst>
          </p:cNvPr>
          <p:cNvSpPr/>
          <p:nvPr/>
        </p:nvSpPr>
        <p:spPr>
          <a:xfrm>
            <a:off x="5139267" y="2651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3A7A"/>
                </a:solidFill>
              </a:rPr>
              <a:t>Host Organization</a:t>
            </a:r>
            <a:r>
              <a:rPr lang="en-US" sz="1200" dirty="0">
                <a:solidFill>
                  <a:srgbClr val="94A3B8"/>
                </a:solidFill>
              </a:rPr>
              <a:t> | Problem Statement</a:t>
            </a:r>
            <a:endParaRPr lang="en-US" sz="1200" dirty="0"/>
          </a:p>
        </p:txBody>
      </p:sp>
      <p:sp>
        <p:nvSpPr>
          <p:cNvPr id="89" name="Shape 26">
            <a:extLst>
              <a:ext uri="{FF2B5EF4-FFF2-40B4-BE49-F238E27FC236}">
                <a16:creationId xmlns:a16="http://schemas.microsoft.com/office/drawing/2014/main" id="{8B751D9D-084E-78A1-9F5A-51D4C0FA29BF}"/>
              </a:ext>
            </a:extLst>
          </p:cNvPr>
          <p:cNvSpPr/>
          <p:nvPr/>
        </p:nvSpPr>
        <p:spPr>
          <a:xfrm>
            <a:off x="11677227" y="6405372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02D4C25A-1F74-8A85-5729-10E2E46B2228}"/>
              </a:ext>
            </a:extLst>
          </p:cNvPr>
          <p:cNvSpPr/>
          <p:nvPr/>
        </p:nvSpPr>
        <p:spPr>
          <a:xfrm>
            <a:off x="11668760" y="640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pic>
        <p:nvPicPr>
          <p:cNvPr id="91" name="Graphique 1">
            <a:extLst>
              <a:ext uri="{FF2B5EF4-FFF2-40B4-BE49-F238E27FC236}">
                <a16:creationId xmlns:a16="http://schemas.microsoft.com/office/drawing/2014/main" id="{5D8DAA13-D1E2-EC00-C4F1-F7E2461D6A4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8866" y="5352133"/>
            <a:ext cx="3766845" cy="1170911"/>
          </a:xfrm>
          <a:prstGeom prst="rect">
            <a:avLst/>
          </a:prstGeom>
        </p:spPr>
      </p:pic>
      <p:sp>
        <p:nvSpPr>
          <p:cNvPr id="93" name="Shape 7">
            <a:extLst>
              <a:ext uri="{FF2B5EF4-FFF2-40B4-BE49-F238E27FC236}">
                <a16:creationId xmlns:a16="http://schemas.microsoft.com/office/drawing/2014/main" id="{83F75EAD-76DE-9EDB-2016-FCC089506807}"/>
              </a:ext>
            </a:extLst>
          </p:cNvPr>
          <p:cNvSpPr/>
          <p:nvPr/>
        </p:nvSpPr>
        <p:spPr>
          <a:xfrm>
            <a:off x="775904" y="1544597"/>
            <a:ext cx="2929107" cy="329184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94" name="Text 8">
            <a:extLst>
              <a:ext uri="{FF2B5EF4-FFF2-40B4-BE49-F238E27FC236}">
                <a16:creationId xmlns:a16="http://schemas.microsoft.com/office/drawing/2014/main" id="{6F852865-C774-EE1B-2C0F-5032F853BE9F}"/>
              </a:ext>
            </a:extLst>
          </p:cNvPr>
          <p:cNvSpPr/>
          <p:nvPr/>
        </p:nvSpPr>
        <p:spPr>
          <a:xfrm>
            <a:off x="775904" y="1544597"/>
            <a:ext cx="292910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Creative Media</a:t>
            </a:r>
            <a:endParaRPr lang="en-US" sz="1600" dirty="0"/>
          </a:p>
        </p:txBody>
      </p:sp>
      <p:sp>
        <p:nvSpPr>
          <p:cNvPr id="95" name="Shape 9">
            <a:extLst>
              <a:ext uri="{FF2B5EF4-FFF2-40B4-BE49-F238E27FC236}">
                <a16:creationId xmlns:a16="http://schemas.microsoft.com/office/drawing/2014/main" id="{3DE97CE9-39A1-17D5-1379-4133EC57AAA5}"/>
              </a:ext>
            </a:extLst>
          </p:cNvPr>
          <p:cNvSpPr/>
          <p:nvPr/>
        </p:nvSpPr>
        <p:spPr>
          <a:xfrm>
            <a:off x="775905" y="1956077"/>
            <a:ext cx="10364535" cy="521208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96" name="Shape 10">
            <a:extLst>
              <a:ext uri="{FF2B5EF4-FFF2-40B4-BE49-F238E27FC236}">
                <a16:creationId xmlns:a16="http://schemas.microsoft.com/office/drawing/2014/main" id="{8B62DB0A-112A-C6A7-B241-F03B18C9844B}"/>
              </a:ext>
            </a:extLst>
          </p:cNvPr>
          <p:cNvSpPr/>
          <p:nvPr/>
        </p:nvSpPr>
        <p:spPr>
          <a:xfrm>
            <a:off x="775905" y="1956077"/>
            <a:ext cx="67595" cy="521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97" name="Text 11">
            <a:extLst>
              <a:ext uri="{FF2B5EF4-FFF2-40B4-BE49-F238E27FC236}">
                <a16:creationId xmlns:a16="http://schemas.microsoft.com/office/drawing/2014/main" id="{20F876FF-81ED-1E51-FD6F-12038A5BB360}"/>
              </a:ext>
            </a:extLst>
          </p:cNvPr>
          <p:cNvSpPr/>
          <p:nvPr/>
        </p:nvSpPr>
        <p:spPr>
          <a:xfrm>
            <a:off x="958785" y="1956077"/>
            <a:ext cx="236581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7A"/>
                </a:solidFill>
              </a:rPr>
              <a:t>Sector</a:t>
            </a:r>
            <a:endParaRPr lang="en-US" sz="1600" dirty="0"/>
          </a:p>
        </p:txBody>
      </p:sp>
      <p:sp>
        <p:nvSpPr>
          <p:cNvPr id="98" name="Text 12">
            <a:extLst>
              <a:ext uri="{FF2B5EF4-FFF2-40B4-BE49-F238E27FC236}">
                <a16:creationId xmlns:a16="http://schemas.microsoft.com/office/drawing/2014/main" id="{7589AD2D-6371-BE8F-8B03-48C3FEE2BBC6}"/>
              </a:ext>
            </a:extLst>
          </p:cNvPr>
          <p:cNvSpPr/>
          <p:nvPr/>
        </p:nvSpPr>
        <p:spPr>
          <a:xfrm>
            <a:off x="3016185" y="1956077"/>
            <a:ext cx="74354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</a:rPr>
              <a:t>Digital Technology &amp; Multimedia Agency — Sousse, Tunisia</a:t>
            </a:r>
            <a:endParaRPr lang="en-US" sz="1600" dirty="0"/>
          </a:p>
        </p:txBody>
      </p:sp>
      <p:sp>
        <p:nvSpPr>
          <p:cNvPr id="99" name="Shape 13">
            <a:extLst>
              <a:ext uri="{FF2B5EF4-FFF2-40B4-BE49-F238E27FC236}">
                <a16:creationId xmlns:a16="http://schemas.microsoft.com/office/drawing/2014/main" id="{C246D32D-0508-6F7A-FABA-CADDD7E751E4}"/>
              </a:ext>
            </a:extLst>
          </p:cNvPr>
          <p:cNvSpPr/>
          <p:nvPr/>
        </p:nvSpPr>
        <p:spPr>
          <a:xfrm>
            <a:off x="775905" y="2568725"/>
            <a:ext cx="10364535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00" name="Shape 14">
            <a:extLst>
              <a:ext uri="{FF2B5EF4-FFF2-40B4-BE49-F238E27FC236}">
                <a16:creationId xmlns:a16="http://schemas.microsoft.com/office/drawing/2014/main" id="{DC680E09-351B-9616-5532-5A29D873668D}"/>
              </a:ext>
            </a:extLst>
          </p:cNvPr>
          <p:cNvSpPr/>
          <p:nvPr/>
        </p:nvSpPr>
        <p:spPr>
          <a:xfrm>
            <a:off x="775905" y="2568725"/>
            <a:ext cx="67595" cy="521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01" name="Text 15">
            <a:extLst>
              <a:ext uri="{FF2B5EF4-FFF2-40B4-BE49-F238E27FC236}">
                <a16:creationId xmlns:a16="http://schemas.microsoft.com/office/drawing/2014/main" id="{C84F4E7F-40BE-CC99-CC32-42C02A89F928}"/>
              </a:ext>
            </a:extLst>
          </p:cNvPr>
          <p:cNvSpPr/>
          <p:nvPr/>
        </p:nvSpPr>
        <p:spPr>
          <a:xfrm>
            <a:off x="958785" y="2568725"/>
            <a:ext cx="236581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7A"/>
                </a:solidFill>
              </a:rPr>
              <a:t>Founded</a:t>
            </a:r>
            <a:endParaRPr lang="en-US" sz="1600" dirty="0"/>
          </a:p>
        </p:txBody>
      </p:sp>
      <p:sp>
        <p:nvSpPr>
          <p:cNvPr id="102" name="Text 16">
            <a:extLst>
              <a:ext uri="{FF2B5EF4-FFF2-40B4-BE49-F238E27FC236}">
                <a16:creationId xmlns:a16="http://schemas.microsoft.com/office/drawing/2014/main" id="{E0599836-5C43-EFE6-CAE5-33DFC54D8DDB}"/>
              </a:ext>
            </a:extLst>
          </p:cNvPr>
          <p:cNvSpPr/>
          <p:nvPr/>
        </p:nvSpPr>
        <p:spPr>
          <a:xfrm>
            <a:off x="3016185" y="2568725"/>
            <a:ext cx="74354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</a:rPr>
              <a:t>2002  ·  Legal form: SARL</a:t>
            </a:r>
            <a:endParaRPr lang="en-US" sz="1600" dirty="0"/>
          </a:p>
        </p:txBody>
      </p:sp>
      <p:sp>
        <p:nvSpPr>
          <p:cNvPr id="103" name="Shape 17">
            <a:extLst>
              <a:ext uri="{FF2B5EF4-FFF2-40B4-BE49-F238E27FC236}">
                <a16:creationId xmlns:a16="http://schemas.microsoft.com/office/drawing/2014/main" id="{DE6D6A92-8BC0-DD44-263F-6229CB608DA9}"/>
              </a:ext>
            </a:extLst>
          </p:cNvPr>
          <p:cNvSpPr/>
          <p:nvPr/>
        </p:nvSpPr>
        <p:spPr>
          <a:xfrm>
            <a:off x="775905" y="3181373"/>
            <a:ext cx="10364535" cy="521208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04" name="Shape 18">
            <a:extLst>
              <a:ext uri="{FF2B5EF4-FFF2-40B4-BE49-F238E27FC236}">
                <a16:creationId xmlns:a16="http://schemas.microsoft.com/office/drawing/2014/main" id="{4BC0F725-8420-4F8C-7E7D-73B555BC30AC}"/>
              </a:ext>
            </a:extLst>
          </p:cNvPr>
          <p:cNvSpPr/>
          <p:nvPr/>
        </p:nvSpPr>
        <p:spPr>
          <a:xfrm>
            <a:off x="775905" y="3181373"/>
            <a:ext cx="67595" cy="521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05" name="Text 19">
            <a:extLst>
              <a:ext uri="{FF2B5EF4-FFF2-40B4-BE49-F238E27FC236}">
                <a16:creationId xmlns:a16="http://schemas.microsoft.com/office/drawing/2014/main" id="{52DFD97B-F2A9-3912-0D53-3265606C5702}"/>
              </a:ext>
            </a:extLst>
          </p:cNvPr>
          <p:cNvSpPr/>
          <p:nvPr/>
        </p:nvSpPr>
        <p:spPr>
          <a:xfrm>
            <a:off x="958785" y="3181373"/>
            <a:ext cx="236581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7A"/>
                </a:solidFill>
              </a:rPr>
              <a:t>Expertise</a:t>
            </a:r>
            <a:endParaRPr lang="en-US" sz="1600" dirty="0"/>
          </a:p>
        </p:txBody>
      </p:sp>
      <p:sp>
        <p:nvSpPr>
          <p:cNvPr id="106" name="Text 20">
            <a:extLst>
              <a:ext uri="{FF2B5EF4-FFF2-40B4-BE49-F238E27FC236}">
                <a16:creationId xmlns:a16="http://schemas.microsoft.com/office/drawing/2014/main" id="{B8AB4835-FAE5-9BAB-B2F2-B2FA68EC8A34}"/>
              </a:ext>
            </a:extLst>
          </p:cNvPr>
          <p:cNvSpPr/>
          <p:nvPr/>
        </p:nvSpPr>
        <p:spPr>
          <a:xfrm>
            <a:off x="3016185" y="3181373"/>
            <a:ext cx="74354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</a:rPr>
              <a:t>Web &amp; mobile development · UX/UI design · AI integration · Digital branding · CGI</a:t>
            </a:r>
            <a:endParaRPr lang="en-US" sz="1600" dirty="0"/>
          </a:p>
        </p:txBody>
      </p:sp>
      <p:sp>
        <p:nvSpPr>
          <p:cNvPr id="107" name="Shape 21">
            <a:extLst>
              <a:ext uri="{FF2B5EF4-FFF2-40B4-BE49-F238E27FC236}">
                <a16:creationId xmlns:a16="http://schemas.microsoft.com/office/drawing/2014/main" id="{38A9CA9B-A9F5-1EA4-AD82-9112675AD05D}"/>
              </a:ext>
            </a:extLst>
          </p:cNvPr>
          <p:cNvSpPr/>
          <p:nvPr/>
        </p:nvSpPr>
        <p:spPr>
          <a:xfrm>
            <a:off x="775905" y="3794021"/>
            <a:ext cx="10364535" cy="52120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08" name="Shape 22">
            <a:extLst>
              <a:ext uri="{FF2B5EF4-FFF2-40B4-BE49-F238E27FC236}">
                <a16:creationId xmlns:a16="http://schemas.microsoft.com/office/drawing/2014/main" id="{9D3F98E2-801D-4508-0FED-1001883F1C6D}"/>
              </a:ext>
            </a:extLst>
          </p:cNvPr>
          <p:cNvSpPr/>
          <p:nvPr/>
        </p:nvSpPr>
        <p:spPr>
          <a:xfrm>
            <a:off x="775905" y="3794021"/>
            <a:ext cx="67595" cy="521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09" name="Text 23">
            <a:extLst>
              <a:ext uri="{FF2B5EF4-FFF2-40B4-BE49-F238E27FC236}">
                <a16:creationId xmlns:a16="http://schemas.microsoft.com/office/drawing/2014/main" id="{CCEAB583-B04E-5C23-A68F-76AEB9533482}"/>
              </a:ext>
            </a:extLst>
          </p:cNvPr>
          <p:cNvSpPr/>
          <p:nvPr/>
        </p:nvSpPr>
        <p:spPr>
          <a:xfrm>
            <a:off x="958785" y="3794021"/>
            <a:ext cx="236581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7A"/>
                </a:solidFill>
              </a:rPr>
              <a:t>Methodology</a:t>
            </a:r>
            <a:endParaRPr lang="en-US" sz="1600" dirty="0"/>
          </a:p>
        </p:txBody>
      </p:sp>
      <p:sp>
        <p:nvSpPr>
          <p:cNvPr id="110" name="Text 24">
            <a:extLst>
              <a:ext uri="{FF2B5EF4-FFF2-40B4-BE49-F238E27FC236}">
                <a16:creationId xmlns:a16="http://schemas.microsoft.com/office/drawing/2014/main" id="{4CC1DE72-CF16-C071-3065-3E668667B994}"/>
              </a:ext>
            </a:extLst>
          </p:cNvPr>
          <p:cNvSpPr/>
          <p:nvPr/>
        </p:nvSpPr>
        <p:spPr>
          <a:xfrm>
            <a:off x="3016185" y="3794021"/>
            <a:ext cx="74354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</a:rPr>
              <a:t>Agile &amp; Scrum</a:t>
            </a:r>
            <a:endParaRPr lang="en-US" sz="1600" dirty="0"/>
          </a:p>
        </p:txBody>
      </p:sp>
      <p:sp>
        <p:nvSpPr>
          <p:cNvPr id="111" name="Shape 25">
            <a:extLst>
              <a:ext uri="{FF2B5EF4-FFF2-40B4-BE49-F238E27FC236}">
                <a16:creationId xmlns:a16="http://schemas.microsoft.com/office/drawing/2014/main" id="{F1D7C1DC-C5AA-83CA-1841-BD4875C86E62}"/>
              </a:ext>
            </a:extLst>
          </p:cNvPr>
          <p:cNvSpPr/>
          <p:nvPr/>
        </p:nvSpPr>
        <p:spPr>
          <a:xfrm>
            <a:off x="775905" y="4406669"/>
            <a:ext cx="10364535" cy="521208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12" name="Shape 26">
            <a:extLst>
              <a:ext uri="{FF2B5EF4-FFF2-40B4-BE49-F238E27FC236}">
                <a16:creationId xmlns:a16="http://schemas.microsoft.com/office/drawing/2014/main" id="{6113F047-0DC3-99E0-473A-D482E148A681}"/>
              </a:ext>
            </a:extLst>
          </p:cNvPr>
          <p:cNvSpPr/>
          <p:nvPr/>
        </p:nvSpPr>
        <p:spPr>
          <a:xfrm>
            <a:off x="775905" y="4406669"/>
            <a:ext cx="67595" cy="5212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13" name="Text 27">
            <a:extLst>
              <a:ext uri="{FF2B5EF4-FFF2-40B4-BE49-F238E27FC236}">
                <a16:creationId xmlns:a16="http://schemas.microsoft.com/office/drawing/2014/main" id="{FC6FEC18-02E9-0BB2-4A17-926FB0E14858}"/>
              </a:ext>
            </a:extLst>
          </p:cNvPr>
          <p:cNvSpPr/>
          <p:nvPr/>
        </p:nvSpPr>
        <p:spPr>
          <a:xfrm>
            <a:off x="958785" y="4406669"/>
            <a:ext cx="236581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7A"/>
                </a:solidFill>
              </a:rPr>
              <a:t>Team</a:t>
            </a:r>
            <a:endParaRPr lang="en-US" sz="1600" dirty="0"/>
          </a:p>
        </p:txBody>
      </p:sp>
      <p:sp>
        <p:nvSpPr>
          <p:cNvPr id="114" name="Text 28">
            <a:extLst>
              <a:ext uri="{FF2B5EF4-FFF2-40B4-BE49-F238E27FC236}">
                <a16:creationId xmlns:a16="http://schemas.microsoft.com/office/drawing/2014/main" id="{38C082FA-159C-A566-56AF-DA0B7B732E6A}"/>
              </a:ext>
            </a:extLst>
          </p:cNvPr>
          <p:cNvSpPr/>
          <p:nvPr/>
        </p:nvSpPr>
        <p:spPr>
          <a:xfrm>
            <a:off x="3016185" y="4406669"/>
            <a:ext cx="7435428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E293B"/>
                </a:solidFill>
              </a:rPr>
              <a:t>Full-stack developers · UX/UI designers · AI integrators · Multimedia specialists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9402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5FEC30E1-D368-1E29-FF1C-DABA9EF154DD}"/>
              </a:ext>
            </a:extLst>
          </p:cNvPr>
          <p:cNvSpPr/>
          <p:nvPr/>
        </p:nvSpPr>
        <p:spPr>
          <a:xfrm>
            <a:off x="11140440" y="0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077D1B6E-1A02-7328-6B8C-E4096C904184}"/>
              </a:ext>
            </a:extLst>
          </p:cNvPr>
          <p:cNvSpPr/>
          <p:nvPr/>
        </p:nvSpPr>
        <p:spPr>
          <a:xfrm>
            <a:off x="11597640" y="0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E05540DA-D2B2-1B2E-943E-D144C382F0CB}"/>
              </a:ext>
            </a:extLst>
          </p:cNvPr>
          <p:cNvSpPr/>
          <p:nvPr/>
        </p:nvSpPr>
        <p:spPr>
          <a:xfrm>
            <a:off x="0" y="6057900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876AC76-C7DD-8244-7D73-9C0298831995}"/>
              </a:ext>
            </a:extLst>
          </p:cNvPr>
          <p:cNvSpPr/>
          <p:nvPr/>
        </p:nvSpPr>
        <p:spPr>
          <a:xfrm>
            <a:off x="0" y="6405372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33A45674-F842-C018-43DC-828A99C384A1}"/>
              </a:ext>
            </a:extLst>
          </p:cNvPr>
          <p:cNvSpPr/>
          <p:nvPr/>
        </p:nvSpPr>
        <p:spPr>
          <a:xfrm>
            <a:off x="320040" y="155448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568AEE78-A803-A8AF-8FC2-5937FFD508F2}"/>
              </a:ext>
            </a:extLst>
          </p:cNvPr>
          <p:cNvSpPr/>
          <p:nvPr/>
        </p:nvSpPr>
        <p:spPr>
          <a:xfrm>
            <a:off x="475488" y="11887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General Project Context</a:t>
            </a:r>
            <a:endParaRPr lang="en-US" sz="19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5B60344B-5DCE-5D46-FFB7-15AF566DC501}"/>
              </a:ext>
            </a:extLst>
          </p:cNvPr>
          <p:cNvSpPr/>
          <p:nvPr/>
        </p:nvSpPr>
        <p:spPr>
          <a:xfrm>
            <a:off x="4983480" y="27432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</a:rPr>
              <a:t>Host Organization | </a:t>
            </a:r>
            <a:r>
              <a:rPr lang="en-US" sz="1200" b="1" dirty="0">
                <a:solidFill>
                  <a:srgbClr val="1B3A7A"/>
                </a:solidFill>
              </a:rPr>
              <a:t>Problem Statement</a:t>
            </a:r>
            <a:endParaRPr lang="en-US" sz="12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4EBC3488-2264-6FCD-F464-B2403EF2600B}"/>
              </a:ext>
            </a:extLst>
          </p:cNvPr>
          <p:cNvSpPr/>
          <p:nvPr/>
        </p:nvSpPr>
        <p:spPr>
          <a:xfrm>
            <a:off x="11677227" y="6405372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28" name="Text 27">
            <a:extLst>
              <a:ext uri="{FF2B5EF4-FFF2-40B4-BE49-F238E27FC236}">
                <a16:creationId xmlns:a16="http://schemas.microsoft.com/office/drawing/2014/main" id="{94A86986-0993-D3E8-6849-EFD9A17F7625}"/>
              </a:ext>
            </a:extLst>
          </p:cNvPr>
          <p:cNvSpPr/>
          <p:nvPr/>
        </p:nvSpPr>
        <p:spPr>
          <a:xfrm>
            <a:off x="11668760" y="640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AD97C6A7-7DC2-B598-5C8F-61257AADAA3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0565" y="1873267"/>
            <a:ext cx="3850870" cy="271566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489C4B11-F12D-6C3F-877C-31B930A7E52A}"/>
              </a:ext>
            </a:extLst>
          </p:cNvPr>
          <p:cNvSpPr txBox="1"/>
          <p:nvPr/>
        </p:nvSpPr>
        <p:spPr>
          <a:xfrm>
            <a:off x="525779" y="1226936"/>
            <a:ext cx="34535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800" b="1" dirty="0">
                <a:solidFill>
                  <a:srgbClr val="1E293B"/>
                </a:solidFill>
              </a:rPr>
              <a:t>No systematic time logging against project budgets</a:t>
            </a:r>
            <a:endParaRPr lang="en-US" sz="1800" b="1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81BF340-400F-4750-77B8-6428BEDE67C1}"/>
              </a:ext>
            </a:extLst>
          </p:cNvPr>
          <p:cNvCxnSpPr>
            <a:cxnSpLocks/>
          </p:cNvCxnSpPr>
          <p:nvPr/>
        </p:nvCxnSpPr>
        <p:spPr>
          <a:xfrm flipH="1" flipV="1">
            <a:off x="3005667" y="2010427"/>
            <a:ext cx="1164898" cy="1220673"/>
          </a:xfrm>
          <a:prstGeom prst="straightConnector1">
            <a:avLst/>
          </a:prstGeom>
          <a:ln w="571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C4B1AF4-47F0-7681-C180-C2F1D1D3A08D}"/>
              </a:ext>
            </a:extLst>
          </p:cNvPr>
          <p:cNvSpPr txBox="1"/>
          <p:nvPr/>
        </p:nvSpPr>
        <p:spPr>
          <a:xfrm>
            <a:off x="8729133" y="1231967"/>
            <a:ext cx="3721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800" b="1" dirty="0">
                <a:solidFill>
                  <a:srgbClr val="1E293B"/>
                </a:solidFill>
              </a:rPr>
              <a:t>Scope creep undetected &amp; revision cycles untracked</a:t>
            </a:r>
            <a:endParaRPr lang="en-US" sz="1800" b="1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141F1D-EF02-E8F8-5D1C-4CAC2136F973}"/>
              </a:ext>
            </a:extLst>
          </p:cNvPr>
          <p:cNvSpPr txBox="1"/>
          <p:nvPr/>
        </p:nvSpPr>
        <p:spPr>
          <a:xfrm>
            <a:off x="384048" y="4914668"/>
            <a:ext cx="3649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800" b="1" dirty="0">
                <a:solidFill>
                  <a:srgbClr val="1E293B"/>
                </a:solidFill>
              </a:rPr>
              <a:t>No real-time budget consumption visibility</a:t>
            </a:r>
            <a:endParaRPr lang="en-US" sz="1800" b="1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DF7D8AB-2374-540B-C825-94F0FC34176F}"/>
              </a:ext>
            </a:extLst>
          </p:cNvPr>
          <p:cNvCxnSpPr>
            <a:cxnSpLocks/>
          </p:cNvCxnSpPr>
          <p:nvPr/>
        </p:nvCxnSpPr>
        <p:spPr>
          <a:xfrm flipH="1">
            <a:off x="2844801" y="4683220"/>
            <a:ext cx="1037898" cy="462895"/>
          </a:xfrm>
          <a:prstGeom prst="straightConnector1">
            <a:avLst/>
          </a:prstGeom>
          <a:ln w="571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AF3FA8C-9797-5DAE-11D8-DEBA6348B054}"/>
              </a:ext>
            </a:extLst>
          </p:cNvPr>
          <p:cNvSpPr txBox="1"/>
          <p:nvPr/>
        </p:nvSpPr>
        <p:spPr>
          <a:xfrm>
            <a:off x="4982210" y="5811619"/>
            <a:ext cx="27559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800" b="1" dirty="0">
                <a:solidFill>
                  <a:srgbClr val="1E293B"/>
                </a:solidFill>
              </a:rPr>
              <a:t>No structured client feedback channel</a:t>
            </a:r>
            <a:endParaRPr lang="en-US" sz="1800" b="1" dirty="0"/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72C8CEA-5820-5909-E55D-E1D084336504}"/>
              </a:ext>
            </a:extLst>
          </p:cNvPr>
          <p:cNvCxnSpPr>
            <a:cxnSpLocks/>
          </p:cNvCxnSpPr>
          <p:nvPr/>
        </p:nvCxnSpPr>
        <p:spPr>
          <a:xfrm>
            <a:off x="5994400" y="4800600"/>
            <a:ext cx="0" cy="1011019"/>
          </a:xfrm>
          <a:prstGeom prst="straightConnector1">
            <a:avLst/>
          </a:prstGeom>
          <a:ln w="571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925A44F2-A4C1-68DA-F4F0-D2C3B9BC8625}"/>
              </a:ext>
            </a:extLst>
          </p:cNvPr>
          <p:cNvSpPr txBox="1"/>
          <p:nvPr/>
        </p:nvSpPr>
        <p:spPr>
          <a:xfrm>
            <a:off x="9504256" y="4914667"/>
            <a:ext cx="3052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800" b="1" dirty="0">
                <a:solidFill>
                  <a:srgbClr val="1E293B"/>
                </a:solidFill>
              </a:rPr>
              <a:t>Inability to identify unprofitable clients</a:t>
            </a:r>
            <a:endParaRPr lang="en-US" sz="1800" b="1" dirty="0"/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A005549-20A6-B429-6EBD-EFFD918F697B}"/>
              </a:ext>
            </a:extLst>
          </p:cNvPr>
          <p:cNvCxnSpPr>
            <a:cxnSpLocks/>
          </p:cNvCxnSpPr>
          <p:nvPr/>
        </p:nvCxnSpPr>
        <p:spPr>
          <a:xfrm>
            <a:off x="8204201" y="4683220"/>
            <a:ext cx="1049866" cy="462895"/>
          </a:xfrm>
          <a:prstGeom prst="straightConnector1">
            <a:avLst/>
          </a:prstGeom>
          <a:ln w="571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6EABC9AF-AB00-049D-EC3E-F9C67BED9201}"/>
              </a:ext>
            </a:extLst>
          </p:cNvPr>
          <p:cNvCxnSpPr>
            <a:cxnSpLocks/>
          </p:cNvCxnSpPr>
          <p:nvPr/>
        </p:nvCxnSpPr>
        <p:spPr>
          <a:xfrm flipV="1">
            <a:off x="7340600" y="2010427"/>
            <a:ext cx="1388533" cy="1139173"/>
          </a:xfrm>
          <a:prstGeom prst="straightConnector1">
            <a:avLst/>
          </a:prstGeom>
          <a:ln w="571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1" name="Shape 0">
            <a:extLst>
              <a:ext uri="{FF2B5EF4-FFF2-40B4-BE49-F238E27FC236}">
                <a16:creationId xmlns:a16="http://schemas.microsoft.com/office/drawing/2014/main" id="{487738AE-8569-E53B-AE5B-AAF1FE6CE41C}"/>
              </a:ext>
            </a:extLst>
          </p:cNvPr>
          <p:cNvSpPr/>
          <p:nvPr/>
        </p:nvSpPr>
        <p:spPr>
          <a:xfrm>
            <a:off x="11140440" y="1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2" name="Shape 1">
            <a:extLst>
              <a:ext uri="{FF2B5EF4-FFF2-40B4-BE49-F238E27FC236}">
                <a16:creationId xmlns:a16="http://schemas.microsoft.com/office/drawing/2014/main" id="{3CAF3A34-CEC0-1BA3-E126-34E1CCB4B853}"/>
              </a:ext>
            </a:extLst>
          </p:cNvPr>
          <p:cNvSpPr/>
          <p:nvPr/>
        </p:nvSpPr>
        <p:spPr>
          <a:xfrm>
            <a:off x="11597640" y="1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3" name="Shape 2">
            <a:extLst>
              <a:ext uri="{FF2B5EF4-FFF2-40B4-BE49-F238E27FC236}">
                <a16:creationId xmlns:a16="http://schemas.microsoft.com/office/drawing/2014/main" id="{4A3BFDB2-5963-2210-ACAB-528A41E70106}"/>
              </a:ext>
            </a:extLst>
          </p:cNvPr>
          <p:cNvSpPr/>
          <p:nvPr/>
        </p:nvSpPr>
        <p:spPr>
          <a:xfrm>
            <a:off x="0" y="6057901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4" name="Shape 3">
            <a:extLst>
              <a:ext uri="{FF2B5EF4-FFF2-40B4-BE49-F238E27FC236}">
                <a16:creationId xmlns:a16="http://schemas.microsoft.com/office/drawing/2014/main" id="{B971F30F-CE12-E8B6-B307-8B5100797873}"/>
              </a:ext>
            </a:extLst>
          </p:cNvPr>
          <p:cNvSpPr/>
          <p:nvPr/>
        </p:nvSpPr>
        <p:spPr>
          <a:xfrm>
            <a:off x="0" y="6405373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5" name="Shape 4">
            <a:extLst>
              <a:ext uri="{FF2B5EF4-FFF2-40B4-BE49-F238E27FC236}">
                <a16:creationId xmlns:a16="http://schemas.microsoft.com/office/drawing/2014/main" id="{01DD1F7C-4896-444F-4BFB-D89C72AD77C5}"/>
              </a:ext>
            </a:extLst>
          </p:cNvPr>
          <p:cNvSpPr/>
          <p:nvPr/>
        </p:nvSpPr>
        <p:spPr>
          <a:xfrm>
            <a:off x="320040" y="155449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6" name="Text 5">
            <a:extLst>
              <a:ext uri="{FF2B5EF4-FFF2-40B4-BE49-F238E27FC236}">
                <a16:creationId xmlns:a16="http://schemas.microsoft.com/office/drawing/2014/main" id="{9DB05105-EBF0-1397-A436-80B4EE3EFDA0}"/>
              </a:ext>
            </a:extLst>
          </p:cNvPr>
          <p:cNvSpPr/>
          <p:nvPr/>
        </p:nvSpPr>
        <p:spPr>
          <a:xfrm>
            <a:off x="475488" y="118873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General Project Context</a:t>
            </a:r>
            <a:endParaRPr lang="en-US" sz="1900" dirty="0"/>
          </a:p>
        </p:txBody>
      </p:sp>
      <p:sp>
        <p:nvSpPr>
          <p:cNvPr id="88" name="Shape 26">
            <a:extLst>
              <a:ext uri="{FF2B5EF4-FFF2-40B4-BE49-F238E27FC236}">
                <a16:creationId xmlns:a16="http://schemas.microsoft.com/office/drawing/2014/main" id="{989629E9-029B-DE4E-D1C9-F992FDCF4AFB}"/>
              </a:ext>
            </a:extLst>
          </p:cNvPr>
          <p:cNvSpPr/>
          <p:nvPr/>
        </p:nvSpPr>
        <p:spPr>
          <a:xfrm>
            <a:off x="11677227" y="6405373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89" name="Text 27">
            <a:extLst>
              <a:ext uri="{FF2B5EF4-FFF2-40B4-BE49-F238E27FC236}">
                <a16:creationId xmlns:a16="http://schemas.microsoft.com/office/drawing/2014/main" id="{BA7532B5-A92C-C3E6-37A5-BCF2A7A59E86}"/>
              </a:ext>
            </a:extLst>
          </p:cNvPr>
          <p:cNvSpPr/>
          <p:nvPr/>
        </p:nvSpPr>
        <p:spPr>
          <a:xfrm>
            <a:off x="11668760" y="6405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78E8993-EB93-D6CC-78BF-E3C86480A368}"/>
              </a:ext>
            </a:extLst>
          </p:cNvPr>
          <p:cNvSpPr txBox="1"/>
          <p:nvPr/>
        </p:nvSpPr>
        <p:spPr>
          <a:xfrm>
            <a:off x="8729133" y="1231968"/>
            <a:ext cx="3721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800" b="1" dirty="0">
                <a:solidFill>
                  <a:srgbClr val="1E293B"/>
                </a:solidFill>
              </a:rPr>
              <a:t>Scope creep undetected &amp; revision cycles untracked</a:t>
            </a:r>
            <a:endParaRPr lang="en-US" sz="18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E4EE48B-6E28-C309-675B-1E53CBA47519}"/>
              </a:ext>
            </a:extLst>
          </p:cNvPr>
          <p:cNvSpPr txBox="1"/>
          <p:nvPr/>
        </p:nvSpPr>
        <p:spPr>
          <a:xfrm>
            <a:off x="9504256" y="4914668"/>
            <a:ext cx="3052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SzPct val="100000"/>
            </a:pPr>
            <a:r>
              <a:rPr lang="en-US" sz="1800" b="1" dirty="0">
                <a:solidFill>
                  <a:srgbClr val="1E293B"/>
                </a:solidFill>
              </a:rPr>
              <a:t>Inability to identify unprofitable clients</a:t>
            </a:r>
            <a:endParaRPr lang="en-US" sz="1800" b="1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3DB2A03D-F714-0F30-661C-8C549E00106D}"/>
              </a:ext>
            </a:extLst>
          </p:cNvPr>
          <p:cNvCxnSpPr>
            <a:cxnSpLocks/>
          </p:cNvCxnSpPr>
          <p:nvPr/>
        </p:nvCxnSpPr>
        <p:spPr>
          <a:xfrm>
            <a:off x="8204201" y="4683221"/>
            <a:ext cx="1049866" cy="462895"/>
          </a:xfrm>
          <a:prstGeom prst="straightConnector1">
            <a:avLst/>
          </a:prstGeom>
          <a:ln w="571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4B1E2D8-3B6E-382C-6C21-ADFA6AF09BE7}"/>
              </a:ext>
            </a:extLst>
          </p:cNvPr>
          <p:cNvCxnSpPr>
            <a:cxnSpLocks/>
          </p:cNvCxnSpPr>
          <p:nvPr/>
        </p:nvCxnSpPr>
        <p:spPr>
          <a:xfrm flipV="1">
            <a:off x="7340600" y="2010428"/>
            <a:ext cx="1388533" cy="1139173"/>
          </a:xfrm>
          <a:prstGeom prst="straightConnector1">
            <a:avLst/>
          </a:prstGeom>
          <a:ln w="57150">
            <a:solidFill>
              <a:schemeClr val="tx2">
                <a:lumMod val="90000"/>
                <a:lumOff val="1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9947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2A42ED-B180-F330-2E65-8178B0AA61C2}"/>
              </a:ext>
            </a:extLst>
          </p:cNvPr>
          <p:cNvSpPr/>
          <p:nvPr/>
        </p:nvSpPr>
        <p:spPr>
          <a:xfrm>
            <a:off x="1051560" y="777240"/>
            <a:ext cx="4492415" cy="478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AEEF6"/>
                </a:solidFill>
              </a:rPr>
              <a:t>02</a:t>
            </a:r>
            <a:endParaRPr lang="en-US" sz="150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C51541A-A598-F9F8-FB78-53D105BA62D2}"/>
              </a:ext>
            </a:extLst>
          </p:cNvPr>
          <p:cNvSpPr/>
          <p:nvPr/>
        </p:nvSpPr>
        <p:spPr>
          <a:xfrm>
            <a:off x="1771226" y="2793324"/>
            <a:ext cx="898483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7A"/>
                </a:solidFill>
              </a:rPr>
              <a:t>Existing System Analysis &amp; Solution</a:t>
            </a:r>
            <a:endParaRPr lang="en-US" sz="28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114E37E4-FE56-0A47-6ED3-3A4CBB95A635}"/>
              </a:ext>
            </a:extLst>
          </p:cNvPr>
          <p:cNvSpPr/>
          <p:nvPr/>
        </p:nvSpPr>
        <p:spPr>
          <a:xfrm>
            <a:off x="11140440" y="0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B82CC2C5-C566-6160-AFF3-E5815B372BCC}"/>
              </a:ext>
            </a:extLst>
          </p:cNvPr>
          <p:cNvSpPr/>
          <p:nvPr/>
        </p:nvSpPr>
        <p:spPr>
          <a:xfrm>
            <a:off x="11597640" y="0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9DB104AF-7A3D-553D-3369-D11575DF373E}"/>
              </a:ext>
            </a:extLst>
          </p:cNvPr>
          <p:cNvSpPr/>
          <p:nvPr/>
        </p:nvSpPr>
        <p:spPr>
          <a:xfrm>
            <a:off x="0" y="6057900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937126B2-0F8C-31C6-E532-C18E3518DCD7}"/>
              </a:ext>
            </a:extLst>
          </p:cNvPr>
          <p:cNvSpPr/>
          <p:nvPr/>
        </p:nvSpPr>
        <p:spPr>
          <a:xfrm>
            <a:off x="0" y="6405372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F7D4629F-3683-D392-F52B-73B4FDAEE04B}"/>
              </a:ext>
            </a:extLst>
          </p:cNvPr>
          <p:cNvSpPr/>
          <p:nvPr/>
        </p:nvSpPr>
        <p:spPr>
          <a:xfrm>
            <a:off x="1656078" y="2793324"/>
            <a:ext cx="7226050" cy="45719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26">
            <a:extLst>
              <a:ext uri="{FF2B5EF4-FFF2-40B4-BE49-F238E27FC236}">
                <a16:creationId xmlns:a16="http://schemas.microsoft.com/office/drawing/2014/main" id="{4A6A3A61-0269-8D73-9721-BFF2D57D24A2}"/>
              </a:ext>
            </a:extLst>
          </p:cNvPr>
          <p:cNvSpPr/>
          <p:nvPr/>
        </p:nvSpPr>
        <p:spPr>
          <a:xfrm>
            <a:off x="11677227" y="6405372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16" name="Text 27">
            <a:extLst>
              <a:ext uri="{FF2B5EF4-FFF2-40B4-BE49-F238E27FC236}">
                <a16:creationId xmlns:a16="http://schemas.microsoft.com/office/drawing/2014/main" id="{748743A2-644B-4405-55CF-70E808425EDB}"/>
              </a:ext>
            </a:extLst>
          </p:cNvPr>
          <p:cNvSpPr/>
          <p:nvPr/>
        </p:nvSpPr>
        <p:spPr>
          <a:xfrm>
            <a:off x="11668760" y="640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875115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0">
            <a:extLst>
              <a:ext uri="{FF2B5EF4-FFF2-40B4-BE49-F238E27FC236}">
                <a16:creationId xmlns:a16="http://schemas.microsoft.com/office/drawing/2014/main" id="{4747A415-61D9-59EB-CC0D-B9B0141AC1BE}"/>
              </a:ext>
            </a:extLst>
          </p:cNvPr>
          <p:cNvSpPr/>
          <p:nvPr/>
        </p:nvSpPr>
        <p:spPr>
          <a:xfrm>
            <a:off x="11140440" y="1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D5677693-1660-E669-4F5E-6DFF8006606F}"/>
              </a:ext>
            </a:extLst>
          </p:cNvPr>
          <p:cNvSpPr/>
          <p:nvPr/>
        </p:nvSpPr>
        <p:spPr>
          <a:xfrm>
            <a:off x="11597640" y="1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80BB014-10D5-E06A-9B60-3E02640EF8A9}"/>
              </a:ext>
            </a:extLst>
          </p:cNvPr>
          <p:cNvSpPr/>
          <p:nvPr/>
        </p:nvSpPr>
        <p:spPr>
          <a:xfrm>
            <a:off x="0" y="6057901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B92B9FA-F6E4-9398-AE8F-DED0C69DCEAB}"/>
              </a:ext>
            </a:extLst>
          </p:cNvPr>
          <p:cNvSpPr/>
          <p:nvPr/>
        </p:nvSpPr>
        <p:spPr>
          <a:xfrm>
            <a:off x="0" y="6405373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B67647AF-AE1A-EF8D-17FA-57CD52703EE1}"/>
              </a:ext>
            </a:extLst>
          </p:cNvPr>
          <p:cNvSpPr/>
          <p:nvPr/>
        </p:nvSpPr>
        <p:spPr>
          <a:xfrm>
            <a:off x="320040" y="155449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47EE235B-29F9-E012-7515-125F984BF87F}"/>
              </a:ext>
            </a:extLst>
          </p:cNvPr>
          <p:cNvSpPr/>
          <p:nvPr/>
        </p:nvSpPr>
        <p:spPr>
          <a:xfrm>
            <a:off x="475488" y="118873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Existing System Analysis &amp; Solution</a:t>
            </a:r>
            <a:endParaRPr lang="en-US" sz="1900" dirty="0"/>
          </a:p>
        </p:txBody>
      </p:sp>
      <p:sp>
        <p:nvSpPr>
          <p:cNvPr id="27" name="Shape 26">
            <a:extLst>
              <a:ext uri="{FF2B5EF4-FFF2-40B4-BE49-F238E27FC236}">
                <a16:creationId xmlns:a16="http://schemas.microsoft.com/office/drawing/2014/main" id="{7E5FD9A6-D87A-B783-A84E-FDFC2599FA33}"/>
              </a:ext>
            </a:extLst>
          </p:cNvPr>
          <p:cNvSpPr/>
          <p:nvPr/>
        </p:nvSpPr>
        <p:spPr>
          <a:xfrm>
            <a:off x="11677227" y="6405373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11720720-1FDE-7E2D-3990-DF819B2B4293}"/>
              </a:ext>
            </a:extLst>
          </p:cNvPr>
          <p:cNvSpPr/>
          <p:nvPr/>
        </p:nvSpPr>
        <p:spPr>
          <a:xfrm>
            <a:off x="11668760" y="6405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45B310C5-215D-9421-D4B1-4884134B42A3}"/>
              </a:ext>
            </a:extLst>
          </p:cNvPr>
          <p:cNvSpPr/>
          <p:nvPr/>
        </p:nvSpPr>
        <p:spPr>
          <a:xfrm>
            <a:off x="5139267" y="2651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B3A7A"/>
                </a:solidFill>
              </a:rPr>
              <a:t>Tool Comparison </a:t>
            </a:r>
            <a:r>
              <a:rPr lang="en-US" sz="1200" dirty="0">
                <a:solidFill>
                  <a:srgbClr val="94A3B8"/>
                </a:solidFill>
              </a:rPr>
              <a:t>| Proposed Solution</a:t>
            </a:r>
            <a:endParaRPr lang="en-US" sz="1200" dirty="0"/>
          </a:p>
        </p:txBody>
      </p:sp>
      <p:sp>
        <p:nvSpPr>
          <p:cNvPr id="28" name="Shape 7">
            <a:extLst>
              <a:ext uri="{FF2B5EF4-FFF2-40B4-BE49-F238E27FC236}">
                <a16:creationId xmlns:a16="http://schemas.microsoft.com/office/drawing/2014/main" id="{4757AA76-0046-B93C-3C9C-0CD5A58CD821}"/>
              </a:ext>
            </a:extLst>
          </p:cNvPr>
          <p:cNvSpPr/>
          <p:nvPr/>
        </p:nvSpPr>
        <p:spPr>
          <a:xfrm>
            <a:off x="1175636" y="1602085"/>
            <a:ext cx="1925359" cy="3200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2DB27FBD-B613-9D52-175E-DB98119F330E}"/>
              </a:ext>
            </a:extLst>
          </p:cNvPr>
          <p:cNvSpPr/>
          <p:nvPr/>
        </p:nvSpPr>
        <p:spPr>
          <a:xfrm>
            <a:off x="1175637" y="1612359"/>
            <a:ext cx="1737360" cy="309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Tools</a:t>
            </a:r>
            <a:endParaRPr lang="en-US" sz="1600" dirty="0"/>
          </a:p>
        </p:txBody>
      </p:sp>
      <p:sp>
        <p:nvSpPr>
          <p:cNvPr id="32" name="Shape 9">
            <a:extLst>
              <a:ext uri="{FF2B5EF4-FFF2-40B4-BE49-F238E27FC236}">
                <a16:creationId xmlns:a16="http://schemas.microsoft.com/office/drawing/2014/main" id="{042E94BF-526B-9D07-ECF1-32C294E9DB20}"/>
              </a:ext>
            </a:extLst>
          </p:cNvPr>
          <p:cNvSpPr/>
          <p:nvPr/>
        </p:nvSpPr>
        <p:spPr>
          <a:xfrm>
            <a:off x="2912997" y="1602085"/>
            <a:ext cx="3101968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A078FF8D-7F9E-4811-F9C1-864853052C41}"/>
              </a:ext>
            </a:extLst>
          </p:cNvPr>
          <p:cNvSpPr/>
          <p:nvPr/>
        </p:nvSpPr>
        <p:spPr>
          <a:xfrm>
            <a:off x="2912997" y="1596968"/>
            <a:ext cx="2743198" cy="3251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Strengths</a:t>
            </a:r>
            <a:endParaRPr lang="en-US" sz="1600" dirty="0"/>
          </a:p>
        </p:txBody>
      </p:sp>
      <p:sp>
        <p:nvSpPr>
          <p:cNvPr id="34" name="Shape 11">
            <a:extLst>
              <a:ext uri="{FF2B5EF4-FFF2-40B4-BE49-F238E27FC236}">
                <a16:creationId xmlns:a16="http://schemas.microsoft.com/office/drawing/2014/main" id="{FB21089B-FDBE-C6A0-64A5-CDC9FFCAA656}"/>
              </a:ext>
            </a:extLst>
          </p:cNvPr>
          <p:cNvSpPr/>
          <p:nvPr/>
        </p:nvSpPr>
        <p:spPr>
          <a:xfrm>
            <a:off x="5656197" y="1596968"/>
            <a:ext cx="5360166" cy="325157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35" name="Text 12">
            <a:extLst>
              <a:ext uri="{FF2B5EF4-FFF2-40B4-BE49-F238E27FC236}">
                <a16:creationId xmlns:a16="http://schemas.microsoft.com/office/drawing/2014/main" id="{AD6A4739-876D-7E39-CEB8-97EC1B51BE47}"/>
              </a:ext>
            </a:extLst>
          </p:cNvPr>
          <p:cNvSpPr/>
          <p:nvPr/>
        </p:nvSpPr>
        <p:spPr>
          <a:xfrm>
            <a:off x="5656197" y="1612359"/>
            <a:ext cx="5360166" cy="3097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Gaps for Creative Media</a:t>
            </a:r>
            <a:endParaRPr lang="en-US" sz="160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D330209C-E5C4-2F08-6733-CFE66E8F7357}"/>
              </a:ext>
            </a:extLst>
          </p:cNvPr>
          <p:cNvSpPr/>
          <p:nvPr/>
        </p:nvSpPr>
        <p:spPr>
          <a:xfrm>
            <a:off x="1175637" y="1992032"/>
            <a:ext cx="9840726" cy="1071466"/>
          </a:xfrm>
          <a:prstGeom prst="rect">
            <a:avLst/>
          </a:prstGeom>
          <a:solidFill>
            <a:srgbClr val="F5F7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6FF23100-D4B1-CF97-FB90-422F78FB5E8C}"/>
              </a:ext>
            </a:extLst>
          </p:cNvPr>
          <p:cNvSpPr/>
          <p:nvPr/>
        </p:nvSpPr>
        <p:spPr>
          <a:xfrm>
            <a:off x="1597522" y="2612896"/>
            <a:ext cx="181839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7A"/>
                </a:solidFill>
              </a:rPr>
              <a:t>Harvest</a:t>
            </a:r>
            <a:endParaRPr lang="en-US" sz="1600" dirty="0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56B5B348-82F2-7CA7-2EFF-083833D32839}"/>
              </a:ext>
            </a:extLst>
          </p:cNvPr>
          <p:cNvSpPr/>
          <p:nvPr/>
        </p:nvSpPr>
        <p:spPr>
          <a:xfrm>
            <a:off x="2912997" y="2185415"/>
            <a:ext cx="299500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6A34A"/>
                </a:solidFill>
              </a:rPr>
              <a:t>✓  Time tracking</a:t>
            </a:r>
          </a:p>
          <a:p>
            <a:r>
              <a:rPr lang="en-US" sz="1600" dirty="0">
                <a:solidFill>
                  <a:srgbClr val="16A34A"/>
                </a:solidFill>
              </a:rPr>
              <a:t>✓  Invoicing</a:t>
            </a:r>
            <a:endParaRPr lang="en-US" sz="16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CF98D4E2-9275-70CB-401B-1A205956CE4F}"/>
              </a:ext>
            </a:extLst>
          </p:cNvPr>
          <p:cNvSpPr/>
          <p:nvPr/>
        </p:nvSpPr>
        <p:spPr>
          <a:xfrm>
            <a:off x="5656197" y="2139664"/>
            <a:ext cx="6217919" cy="776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C2626"/>
                </a:solidFill>
              </a:rPr>
              <a:t>✗  No scope creep tracking </a:t>
            </a:r>
          </a:p>
          <a:p>
            <a:r>
              <a:rPr lang="en-US" sz="1600" dirty="0">
                <a:solidFill>
                  <a:srgbClr val="DC2626"/>
                </a:solidFill>
              </a:rPr>
              <a:t>✗ Requires external PM tool</a:t>
            </a:r>
          </a:p>
          <a:p>
            <a:r>
              <a:rPr lang="en-US" sz="1600" dirty="0">
                <a:solidFill>
                  <a:srgbClr val="DC2626"/>
                </a:solidFill>
              </a:rPr>
              <a:t>✗ No client profitability</a:t>
            </a:r>
            <a:endParaRPr lang="en-US" sz="16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035833D3-9DE3-2222-6FEE-00A686D630B3}"/>
              </a:ext>
            </a:extLst>
          </p:cNvPr>
          <p:cNvSpPr/>
          <p:nvPr/>
        </p:nvSpPr>
        <p:spPr>
          <a:xfrm>
            <a:off x="1175637" y="3213083"/>
            <a:ext cx="9840726" cy="1112763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5CEBF91-02CE-8567-D3F2-7F197E1B58DC}"/>
              </a:ext>
            </a:extLst>
          </p:cNvPr>
          <p:cNvSpPr/>
          <p:nvPr/>
        </p:nvSpPr>
        <p:spPr>
          <a:xfrm>
            <a:off x="1458627" y="3837328"/>
            <a:ext cx="181839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7A"/>
                </a:solidFill>
              </a:rPr>
              <a:t>Toggl Track</a:t>
            </a:r>
            <a:endParaRPr lang="en-US" sz="16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4FAD3E8F-9B2E-EFE8-D3BA-8167ED5D3CA4}"/>
              </a:ext>
            </a:extLst>
          </p:cNvPr>
          <p:cNvSpPr/>
          <p:nvPr/>
        </p:nvSpPr>
        <p:spPr>
          <a:xfrm>
            <a:off x="2912997" y="3474049"/>
            <a:ext cx="2995004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6A34A"/>
                </a:solidFill>
              </a:rPr>
              <a:t>✓  Excellent timer UX</a:t>
            </a:r>
            <a:endParaRPr lang="en-US" sz="16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EADCC2ED-67A5-B4C2-A50C-16A35E022DE7}"/>
              </a:ext>
            </a:extLst>
          </p:cNvPr>
          <p:cNvSpPr/>
          <p:nvPr/>
        </p:nvSpPr>
        <p:spPr>
          <a:xfrm>
            <a:off x="5656196" y="3436221"/>
            <a:ext cx="449250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C2626"/>
                </a:solidFill>
              </a:rPr>
              <a:t>✗  No project budget management </a:t>
            </a:r>
          </a:p>
          <a:p>
            <a:r>
              <a:rPr lang="en-US" sz="1600" dirty="0">
                <a:solidFill>
                  <a:srgbClr val="DC2626"/>
                </a:solidFill>
              </a:rPr>
              <a:t>✗ No client portal </a:t>
            </a:r>
          </a:p>
          <a:p>
            <a:r>
              <a:rPr lang="en-US" sz="1600" dirty="0">
                <a:solidFill>
                  <a:srgbClr val="DC2626"/>
                </a:solidFill>
              </a:rPr>
              <a:t>✗ No BI metrics</a:t>
            </a:r>
            <a:endParaRPr lang="en-US" sz="1600" dirty="0"/>
          </a:p>
        </p:txBody>
      </p:sp>
      <p:sp>
        <p:nvSpPr>
          <p:cNvPr id="46" name="Shape 29">
            <a:extLst>
              <a:ext uri="{FF2B5EF4-FFF2-40B4-BE49-F238E27FC236}">
                <a16:creationId xmlns:a16="http://schemas.microsoft.com/office/drawing/2014/main" id="{6A375E7F-1C24-6542-43D9-6FDC350018C5}"/>
              </a:ext>
            </a:extLst>
          </p:cNvPr>
          <p:cNvSpPr/>
          <p:nvPr/>
        </p:nvSpPr>
        <p:spPr>
          <a:xfrm>
            <a:off x="1175637" y="4430409"/>
            <a:ext cx="9840726" cy="1112763"/>
          </a:xfrm>
          <a:prstGeom prst="rect">
            <a:avLst/>
          </a:prstGeom>
          <a:solidFill>
            <a:srgbClr val="F5F7FA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49" name="Text 30">
            <a:extLst>
              <a:ext uri="{FF2B5EF4-FFF2-40B4-BE49-F238E27FC236}">
                <a16:creationId xmlns:a16="http://schemas.microsoft.com/office/drawing/2014/main" id="{42968B01-5EFD-80B3-315D-3354C04774A3}"/>
              </a:ext>
            </a:extLst>
          </p:cNvPr>
          <p:cNvSpPr/>
          <p:nvPr/>
        </p:nvSpPr>
        <p:spPr>
          <a:xfrm>
            <a:off x="1663799" y="5067884"/>
            <a:ext cx="1818395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A7A"/>
                </a:solidFill>
              </a:rPr>
              <a:t>Asana</a:t>
            </a:r>
            <a:endParaRPr lang="en-US" sz="1600" dirty="0"/>
          </a:p>
        </p:txBody>
      </p:sp>
      <p:sp>
        <p:nvSpPr>
          <p:cNvPr id="50" name="Text 31">
            <a:extLst>
              <a:ext uri="{FF2B5EF4-FFF2-40B4-BE49-F238E27FC236}">
                <a16:creationId xmlns:a16="http://schemas.microsoft.com/office/drawing/2014/main" id="{008A6FC7-9F4A-07C2-2732-2079774C0242}"/>
              </a:ext>
            </a:extLst>
          </p:cNvPr>
          <p:cNvSpPr/>
          <p:nvPr/>
        </p:nvSpPr>
        <p:spPr>
          <a:xfrm>
            <a:off x="2912997" y="4701300"/>
            <a:ext cx="3332042" cy="6126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6A34A"/>
                </a:solidFill>
              </a:rPr>
              <a:t>✓  Mature task management</a:t>
            </a:r>
            <a:endParaRPr lang="en-US" sz="1600" dirty="0"/>
          </a:p>
        </p:txBody>
      </p:sp>
      <p:sp>
        <p:nvSpPr>
          <p:cNvPr id="55" name="Text 32">
            <a:extLst>
              <a:ext uri="{FF2B5EF4-FFF2-40B4-BE49-F238E27FC236}">
                <a16:creationId xmlns:a16="http://schemas.microsoft.com/office/drawing/2014/main" id="{63A5FE22-0A94-796A-A0F8-4AE3301DDFC5}"/>
              </a:ext>
            </a:extLst>
          </p:cNvPr>
          <p:cNvSpPr/>
          <p:nvPr/>
        </p:nvSpPr>
        <p:spPr>
          <a:xfrm>
            <a:off x="5656195" y="4619523"/>
            <a:ext cx="4492505" cy="7762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DC2626"/>
                </a:solidFill>
              </a:rPr>
              <a:t>✗  No native time tracking</a:t>
            </a:r>
          </a:p>
          <a:p>
            <a:r>
              <a:rPr lang="en-US" sz="1600" dirty="0">
                <a:solidFill>
                  <a:srgbClr val="DC2626"/>
                </a:solidFill>
              </a:rPr>
              <a:t>✗  No budget tracking</a:t>
            </a:r>
          </a:p>
          <a:p>
            <a:r>
              <a:rPr lang="en-US" sz="1600" dirty="0">
                <a:solidFill>
                  <a:srgbClr val="DC2626"/>
                </a:solidFill>
              </a:rPr>
              <a:t>✗  No client portal</a:t>
            </a:r>
            <a:endParaRPr lang="en-US" sz="16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773813D3-7AB9-25C5-A6EF-29726BA1A1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663" y="2074518"/>
            <a:ext cx="781255" cy="66786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EC7DBC2F-39ED-83F1-9ADC-A75AE2DEE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174" y="3292910"/>
            <a:ext cx="780840" cy="692494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E99645E9-7ADB-DD30-228E-369B991385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55174" y="4510236"/>
            <a:ext cx="780840" cy="79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09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C2A5E737-9BAF-9DFF-4FAA-2793A3339F43}"/>
              </a:ext>
            </a:extLst>
          </p:cNvPr>
          <p:cNvSpPr/>
          <p:nvPr/>
        </p:nvSpPr>
        <p:spPr>
          <a:xfrm>
            <a:off x="11140440" y="1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3BEDF535-FCAF-3B2A-F2BE-9082AB60EB1C}"/>
              </a:ext>
            </a:extLst>
          </p:cNvPr>
          <p:cNvSpPr/>
          <p:nvPr/>
        </p:nvSpPr>
        <p:spPr>
          <a:xfrm>
            <a:off x="11597640" y="1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83FF6D56-9539-9C4F-534E-28B211DB0970}"/>
              </a:ext>
            </a:extLst>
          </p:cNvPr>
          <p:cNvSpPr/>
          <p:nvPr/>
        </p:nvSpPr>
        <p:spPr>
          <a:xfrm>
            <a:off x="0" y="6057901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3AEB93A0-5C50-39EF-D904-DAAC51408134}"/>
              </a:ext>
            </a:extLst>
          </p:cNvPr>
          <p:cNvSpPr/>
          <p:nvPr/>
        </p:nvSpPr>
        <p:spPr>
          <a:xfrm>
            <a:off x="0" y="6405373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D8722A25-7DAB-6124-AFF1-4B0E351B5C1F}"/>
              </a:ext>
            </a:extLst>
          </p:cNvPr>
          <p:cNvSpPr/>
          <p:nvPr/>
        </p:nvSpPr>
        <p:spPr>
          <a:xfrm>
            <a:off x="320040" y="155449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AB38A518-9558-D3A0-C52B-84C1153C1B99}"/>
              </a:ext>
            </a:extLst>
          </p:cNvPr>
          <p:cNvSpPr/>
          <p:nvPr/>
        </p:nvSpPr>
        <p:spPr>
          <a:xfrm>
            <a:off x="475488" y="118873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B3A7A"/>
                </a:solidFill>
              </a:rPr>
              <a:t>Existing System Analysis &amp; Solution</a:t>
            </a:r>
            <a:endParaRPr lang="en-US" sz="1900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19823D58-F950-2248-013C-97D4E5413B83}"/>
              </a:ext>
            </a:extLst>
          </p:cNvPr>
          <p:cNvSpPr/>
          <p:nvPr/>
        </p:nvSpPr>
        <p:spPr>
          <a:xfrm>
            <a:off x="11677227" y="6405373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20" name="Text 27">
            <a:extLst>
              <a:ext uri="{FF2B5EF4-FFF2-40B4-BE49-F238E27FC236}">
                <a16:creationId xmlns:a16="http://schemas.microsoft.com/office/drawing/2014/main" id="{91C5490E-F42C-C050-E20F-A354A3E08CAE}"/>
              </a:ext>
            </a:extLst>
          </p:cNvPr>
          <p:cNvSpPr/>
          <p:nvPr/>
        </p:nvSpPr>
        <p:spPr>
          <a:xfrm>
            <a:off x="11668760" y="6405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8</a:t>
            </a:r>
            <a:endParaRPr lang="en-US" sz="14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E2B9C7D7-A73D-24CE-22F2-B915062525F0}"/>
              </a:ext>
            </a:extLst>
          </p:cNvPr>
          <p:cNvSpPr/>
          <p:nvPr/>
        </p:nvSpPr>
        <p:spPr>
          <a:xfrm>
            <a:off x="5139267" y="2651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4A3B8"/>
                </a:solidFill>
              </a:rPr>
              <a:t>Tool Comparison | </a:t>
            </a:r>
            <a:r>
              <a:rPr lang="en-US" sz="1200" b="1" dirty="0">
                <a:solidFill>
                  <a:srgbClr val="1B3A7A"/>
                </a:solidFill>
              </a:rPr>
              <a:t>Proposed Solution</a:t>
            </a:r>
            <a:endParaRPr lang="en-US" sz="12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5D3CE651-097E-9870-E519-BF0956616088}"/>
              </a:ext>
            </a:extLst>
          </p:cNvPr>
          <p:cNvSpPr/>
          <p:nvPr/>
        </p:nvSpPr>
        <p:spPr>
          <a:xfrm>
            <a:off x="1175636" y="1602085"/>
            <a:ext cx="192535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Tool</a:t>
            </a:r>
            <a:endParaRPr lang="en-US" sz="16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A26CD6D-9C6C-3F6F-0D88-D59D67E63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120" y="777241"/>
            <a:ext cx="9880177" cy="5409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001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>
            <a:extLst>
              <a:ext uri="{FF2B5EF4-FFF2-40B4-BE49-F238E27FC236}">
                <a16:creationId xmlns:a16="http://schemas.microsoft.com/office/drawing/2014/main" id="{F2E34F1A-7DCE-B03C-8807-C478EFBCE28C}"/>
              </a:ext>
            </a:extLst>
          </p:cNvPr>
          <p:cNvSpPr/>
          <p:nvPr/>
        </p:nvSpPr>
        <p:spPr>
          <a:xfrm>
            <a:off x="1051560" y="777240"/>
            <a:ext cx="4492415" cy="478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AEEF6"/>
                </a:solidFill>
              </a:rPr>
              <a:t>03</a:t>
            </a:r>
            <a:endParaRPr lang="en-US" sz="150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AB2EC2AF-73C3-51A3-F9CF-186B921A4EFC}"/>
              </a:ext>
            </a:extLst>
          </p:cNvPr>
          <p:cNvSpPr/>
          <p:nvPr/>
        </p:nvSpPr>
        <p:spPr>
          <a:xfrm>
            <a:off x="1771226" y="2793324"/>
            <a:ext cx="898483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3A7A"/>
                </a:solidFill>
              </a:rPr>
              <a:t>Analysis &amp; Requirements</a:t>
            </a:r>
            <a:endParaRPr lang="en-US" sz="2800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11F9B221-C650-1427-1E2E-9080A11CF8F3}"/>
              </a:ext>
            </a:extLst>
          </p:cNvPr>
          <p:cNvSpPr/>
          <p:nvPr/>
        </p:nvSpPr>
        <p:spPr>
          <a:xfrm>
            <a:off x="11140440" y="0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7F81320D-1D2F-7735-0FC3-DD5FFB712381}"/>
              </a:ext>
            </a:extLst>
          </p:cNvPr>
          <p:cNvSpPr/>
          <p:nvPr/>
        </p:nvSpPr>
        <p:spPr>
          <a:xfrm>
            <a:off x="11597640" y="0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5">
            <a:extLst>
              <a:ext uri="{FF2B5EF4-FFF2-40B4-BE49-F238E27FC236}">
                <a16:creationId xmlns:a16="http://schemas.microsoft.com/office/drawing/2014/main" id="{890295DA-F6C0-78DE-0BBD-C864DD7F347B}"/>
              </a:ext>
            </a:extLst>
          </p:cNvPr>
          <p:cNvSpPr/>
          <p:nvPr/>
        </p:nvSpPr>
        <p:spPr>
          <a:xfrm>
            <a:off x="0" y="6057900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D3565D4A-B4D4-0813-6962-C2C6808F83E4}"/>
              </a:ext>
            </a:extLst>
          </p:cNvPr>
          <p:cNvSpPr/>
          <p:nvPr/>
        </p:nvSpPr>
        <p:spPr>
          <a:xfrm>
            <a:off x="0" y="6405372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8F62B296-94C7-8FB8-42CC-F6AF76DF6C0D}"/>
              </a:ext>
            </a:extLst>
          </p:cNvPr>
          <p:cNvSpPr/>
          <p:nvPr/>
        </p:nvSpPr>
        <p:spPr>
          <a:xfrm>
            <a:off x="1656078" y="2793324"/>
            <a:ext cx="7226050" cy="45719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DC7B0485-9A46-8D31-1223-6336C5A7B440}"/>
              </a:ext>
            </a:extLst>
          </p:cNvPr>
          <p:cNvSpPr/>
          <p:nvPr/>
        </p:nvSpPr>
        <p:spPr>
          <a:xfrm>
            <a:off x="11677227" y="6405372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AC329BD7-7D3F-89C0-867A-B416A419C25D}"/>
              </a:ext>
            </a:extLst>
          </p:cNvPr>
          <p:cNvSpPr/>
          <p:nvPr/>
        </p:nvSpPr>
        <p:spPr>
          <a:xfrm>
            <a:off x="11668760" y="640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9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08135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>
            <a:extLst>
              <a:ext uri="{FF2B5EF4-FFF2-40B4-BE49-F238E27FC236}">
                <a16:creationId xmlns:a16="http://schemas.microsoft.com/office/drawing/2014/main" id="{D0CEAA23-1901-9A6B-5134-A00CA17D622F}"/>
              </a:ext>
            </a:extLst>
          </p:cNvPr>
          <p:cNvSpPr/>
          <p:nvPr/>
        </p:nvSpPr>
        <p:spPr>
          <a:xfrm>
            <a:off x="11140440" y="1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1">
            <a:extLst>
              <a:ext uri="{FF2B5EF4-FFF2-40B4-BE49-F238E27FC236}">
                <a16:creationId xmlns:a16="http://schemas.microsoft.com/office/drawing/2014/main" id="{87F9F1DD-4C80-70E3-7BE9-49D333E8C09B}"/>
              </a:ext>
            </a:extLst>
          </p:cNvPr>
          <p:cNvSpPr/>
          <p:nvPr/>
        </p:nvSpPr>
        <p:spPr>
          <a:xfrm>
            <a:off x="11597640" y="1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Shape 2">
            <a:extLst>
              <a:ext uri="{FF2B5EF4-FFF2-40B4-BE49-F238E27FC236}">
                <a16:creationId xmlns:a16="http://schemas.microsoft.com/office/drawing/2014/main" id="{D303805C-EC1B-DC03-B207-4B67C02E04B4}"/>
              </a:ext>
            </a:extLst>
          </p:cNvPr>
          <p:cNvSpPr/>
          <p:nvPr/>
        </p:nvSpPr>
        <p:spPr>
          <a:xfrm>
            <a:off x="0" y="6057901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3">
            <a:extLst>
              <a:ext uri="{FF2B5EF4-FFF2-40B4-BE49-F238E27FC236}">
                <a16:creationId xmlns:a16="http://schemas.microsoft.com/office/drawing/2014/main" id="{3B659631-14DC-3915-D1B1-6C443263ED2D}"/>
              </a:ext>
            </a:extLst>
          </p:cNvPr>
          <p:cNvSpPr/>
          <p:nvPr/>
        </p:nvSpPr>
        <p:spPr>
          <a:xfrm>
            <a:off x="0" y="6405373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7A264339-C818-41D8-0913-841FD5EDAF77}"/>
              </a:ext>
            </a:extLst>
          </p:cNvPr>
          <p:cNvSpPr/>
          <p:nvPr/>
        </p:nvSpPr>
        <p:spPr>
          <a:xfrm>
            <a:off x="320040" y="155449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Text 5">
            <a:extLst>
              <a:ext uri="{FF2B5EF4-FFF2-40B4-BE49-F238E27FC236}">
                <a16:creationId xmlns:a16="http://schemas.microsoft.com/office/drawing/2014/main" id="{11B79733-9824-6FC9-5DAF-E2DD595C95CD}"/>
              </a:ext>
            </a:extLst>
          </p:cNvPr>
          <p:cNvSpPr/>
          <p:nvPr/>
        </p:nvSpPr>
        <p:spPr>
          <a:xfrm>
            <a:off x="475488" y="118873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B3A7A"/>
                </a:solidFill>
              </a:rPr>
              <a:t>Analysis &amp; Requirements</a:t>
            </a:r>
            <a:endParaRPr lang="en-US" sz="1900" dirty="0"/>
          </a:p>
        </p:txBody>
      </p:sp>
      <p:sp>
        <p:nvSpPr>
          <p:cNvPr id="54" name="Shape 26">
            <a:extLst>
              <a:ext uri="{FF2B5EF4-FFF2-40B4-BE49-F238E27FC236}">
                <a16:creationId xmlns:a16="http://schemas.microsoft.com/office/drawing/2014/main" id="{1E1A735D-A280-859E-E3BC-F41F3E08FF57}"/>
              </a:ext>
            </a:extLst>
          </p:cNvPr>
          <p:cNvSpPr/>
          <p:nvPr/>
        </p:nvSpPr>
        <p:spPr>
          <a:xfrm>
            <a:off x="11677227" y="6405373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7D1DCF70-01D1-BD71-B98C-DF17D0A89074}"/>
              </a:ext>
            </a:extLst>
          </p:cNvPr>
          <p:cNvSpPr/>
          <p:nvPr/>
        </p:nvSpPr>
        <p:spPr>
          <a:xfrm>
            <a:off x="11668760" y="6405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10</a:t>
            </a:r>
            <a:endParaRPr lang="en-US" sz="1400" dirty="0"/>
          </a:p>
        </p:txBody>
      </p:sp>
      <p:sp>
        <p:nvSpPr>
          <p:cNvPr id="56" name="Text 6">
            <a:extLst>
              <a:ext uri="{FF2B5EF4-FFF2-40B4-BE49-F238E27FC236}">
                <a16:creationId xmlns:a16="http://schemas.microsoft.com/office/drawing/2014/main" id="{3636CA2F-A5E6-68E0-DC78-7B4EC4155D13}"/>
              </a:ext>
            </a:extLst>
          </p:cNvPr>
          <p:cNvSpPr/>
          <p:nvPr/>
        </p:nvSpPr>
        <p:spPr>
          <a:xfrm>
            <a:off x="5139267" y="2651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204478"/>
                </a:solidFill>
              </a:rPr>
              <a:t>Actors</a:t>
            </a:r>
            <a:r>
              <a:rPr lang="en-US" sz="1200" b="1" dirty="0">
                <a:solidFill>
                  <a:srgbClr val="1B3A7A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| Specification of Requirements | Use Case Diagram</a:t>
            </a:r>
          </a:p>
        </p:txBody>
      </p:sp>
      <p:sp>
        <p:nvSpPr>
          <p:cNvPr id="57" name="Shape 7">
            <a:extLst>
              <a:ext uri="{FF2B5EF4-FFF2-40B4-BE49-F238E27FC236}">
                <a16:creationId xmlns:a16="http://schemas.microsoft.com/office/drawing/2014/main" id="{30B911A0-F985-A067-448F-967E5CF0EA7F}"/>
              </a:ext>
            </a:extLst>
          </p:cNvPr>
          <p:cNvSpPr/>
          <p:nvPr/>
        </p:nvSpPr>
        <p:spPr>
          <a:xfrm>
            <a:off x="4636704" y="1996648"/>
            <a:ext cx="2929107" cy="329184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58" name="Text 8">
            <a:extLst>
              <a:ext uri="{FF2B5EF4-FFF2-40B4-BE49-F238E27FC236}">
                <a16:creationId xmlns:a16="http://schemas.microsoft.com/office/drawing/2014/main" id="{518DACE7-AB5B-21B8-1CB4-6591FFAD6C9D}"/>
              </a:ext>
            </a:extLst>
          </p:cNvPr>
          <p:cNvSpPr/>
          <p:nvPr/>
        </p:nvSpPr>
        <p:spPr>
          <a:xfrm>
            <a:off x="4636704" y="1996648"/>
            <a:ext cx="292910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Actors</a:t>
            </a:r>
            <a:endParaRPr lang="en-US" sz="1600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A5CEFC29-B539-474B-5B3F-37EA2C42D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42367"/>
            <a:ext cx="12192001" cy="1755429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BD98E942-CC2D-9109-3B67-7DCE9EBE593E}"/>
              </a:ext>
            </a:extLst>
          </p:cNvPr>
          <p:cNvSpPr txBox="1"/>
          <p:nvPr/>
        </p:nvSpPr>
        <p:spPr>
          <a:xfrm>
            <a:off x="1444411" y="4560602"/>
            <a:ext cx="11633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B3A7A"/>
                </a:solidFill>
              </a:rPr>
              <a:t>Manager</a:t>
            </a:r>
            <a:endParaRPr lang="fr-FR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3DCB6AA-1E5A-F41F-239A-1458CC7F1B82}"/>
              </a:ext>
            </a:extLst>
          </p:cNvPr>
          <p:cNvSpPr txBox="1"/>
          <p:nvPr/>
        </p:nvSpPr>
        <p:spPr>
          <a:xfrm>
            <a:off x="5507230" y="4560602"/>
            <a:ext cx="1186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B3A7A"/>
                </a:solidFill>
              </a:rPr>
              <a:t>Designer</a:t>
            </a:r>
            <a:endParaRPr lang="fr-FR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C3E299-45AF-D1E6-D50F-B153A28981D3}"/>
              </a:ext>
            </a:extLst>
          </p:cNvPr>
          <p:cNvSpPr txBox="1"/>
          <p:nvPr/>
        </p:nvSpPr>
        <p:spPr>
          <a:xfrm>
            <a:off x="10041889" y="4560602"/>
            <a:ext cx="8767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1B3A7A"/>
                </a:solidFill>
              </a:rPr>
              <a:t>Client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78265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>
            <a:extLst>
              <a:ext uri="{FF2B5EF4-FFF2-40B4-BE49-F238E27FC236}">
                <a16:creationId xmlns:a16="http://schemas.microsoft.com/office/drawing/2014/main" id="{2CDA634B-86BF-C095-33ED-03F1B86ADA64}"/>
              </a:ext>
            </a:extLst>
          </p:cNvPr>
          <p:cNvSpPr/>
          <p:nvPr/>
        </p:nvSpPr>
        <p:spPr>
          <a:xfrm>
            <a:off x="2081107" y="1660484"/>
            <a:ext cx="2606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Functional</a:t>
            </a:r>
            <a:endParaRPr lang="en-US" sz="16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29ED4FC3-65EA-8A9A-C895-A9C9788E676D}"/>
              </a:ext>
            </a:extLst>
          </p:cNvPr>
          <p:cNvSpPr/>
          <p:nvPr/>
        </p:nvSpPr>
        <p:spPr>
          <a:xfrm>
            <a:off x="2081107" y="2044532"/>
            <a:ext cx="2606040" cy="354787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3FC428EA-4636-8B9B-930F-EB5B355943F3}"/>
              </a:ext>
            </a:extLst>
          </p:cNvPr>
          <p:cNvSpPr/>
          <p:nvPr/>
        </p:nvSpPr>
        <p:spPr>
          <a:xfrm>
            <a:off x="2081106" y="2044532"/>
            <a:ext cx="260604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Authentication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Project &amp; task CRUD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Time Tracking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Kanban drag-and-drop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Client portal &amp; structured feedback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Project messaging board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BI dashboards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PDF &amp; Excel exports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AI estimation &amp; health summary</a:t>
            </a:r>
            <a:endParaRPr lang="en-US" sz="1600" dirty="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2D46E26-D0DB-1227-C5D4-FA9005EC5EE9}"/>
              </a:ext>
            </a:extLst>
          </p:cNvPr>
          <p:cNvSpPr/>
          <p:nvPr/>
        </p:nvSpPr>
        <p:spPr>
          <a:xfrm>
            <a:off x="4915747" y="1660484"/>
            <a:ext cx="2606040" cy="38404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Non-Functional</a:t>
            </a:r>
            <a:endParaRPr lang="en-US" sz="1600" dirty="0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74377D61-5D12-D130-4AD0-9A8B83C97CC9}"/>
              </a:ext>
            </a:extLst>
          </p:cNvPr>
          <p:cNvSpPr/>
          <p:nvPr/>
        </p:nvSpPr>
        <p:spPr>
          <a:xfrm>
            <a:off x="4915747" y="2044532"/>
            <a:ext cx="2606040" cy="354787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342900" indent="-342900">
              <a:buSzPct val="100000"/>
              <a:buChar char="•"/>
            </a:pPr>
            <a:endParaRPr lang="en-US" sz="1600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Security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Performance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Scalability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Maintainability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Usability</a:t>
            </a:r>
            <a:endParaRPr lang="en-US" sz="1600" dirty="0"/>
          </a:p>
          <a:p>
            <a:endParaRPr lang="fr-FR" sz="16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B2FD65B6-B63B-B75A-205D-53CCE9DE409E}"/>
              </a:ext>
            </a:extLst>
          </p:cNvPr>
          <p:cNvSpPr/>
          <p:nvPr/>
        </p:nvSpPr>
        <p:spPr>
          <a:xfrm>
            <a:off x="4915747" y="2135972"/>
            <a:ext cx="2606040" cy="3364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16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FF3DC40A-04E6-8659-1182-98957F070C1C}"/>
              </a:ext>
            </a:extLst>
          </p:cNvPr>
          <p:cNvSpPr/>
          <p:nvPr/>
        </p:nvSpPr>
        <p:spPr>
          <a:xfrm>
            <a:off x="2081107" y="1660484"/>
            <a:ext cx="2606040" cy="384048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pPr algn="ctr"/>
            <a:r>
              <a:rPr lang="en-US" sz="1600" b="1" dirty="0">
                <a:solidFill>
                  <a:srgbClr val="FFFFFF"/>
                </a:solidFill>
              </a:rPr>
              <a:t>Functional</a:t>
            </a:r>
            <a:endParaRPr lang="fr-FR" sz="1600" dirty="0"/>
          </a:p>
        </p:txBody>
      </p:sp>
      <p:sp>
        <p:nvSpPr>
          <p:cNvPr id="15" name="Shape 0">
            <a:extLst>
              <a:ext uri="{FF2B5EF4-FFF2-40B4-BE49-F238E27FC236}">
                <a16:creationId xmlns:a16="http://schemas.microsoft.com/office/drawing/2014/main" id="{3594421B-1633-8703-0511-64AB9E208FC7}"/>
              </a:ext>
            </a:extLst>
          </p:cNvPr>
          <p:cNvSpPr/>
          <p:nvPr/>
        </p:nvSpPr>
        <p:spPr>
          <a:xfrm>
            <a:off x="11140440" y="1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690C98B9-1999-9114-950A-75F8121D4EB1}"/>
              </a:ext>
            </a:extLst>
          </p:cNvPr>
          <p:cNvSpPr/>
          <p:nvPr/>
        </p:nvSpPr>
        <p:spPr>
          <a:xfrm>
            <a:off x="11597640" y="1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2">
            <a:extLst>
              <a:ext uri="{FF2B5EF4-FFF2-40B4-BE49-F238E27FC236}">
                <a16:creationId xmlns:a16="http://schemas.microsoft.com/office/drawing/2014/main" id="{DC7078AA-6907-95B7-445E-ABF8CBAF4B23}"/>
              </a:ext>
            </a:extLst>
          </p:cNvPr>
          <p:cNvSpPr/>
          <p:nvPr/>
        </p:nvSpPr>
        <p:spPr>
          <a:xfrm>
            <a:off x="0" y="6057901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3">
            <a:extLst>
              <a:ext uri="{FF2B5EF4-FFF2-40B4-BE49-F238E27FC236}">
                <a16:creationId xmlns:a16="http://schemas.microsoft.com/office/drawing/2014/main" id="{17C3A8BF-B412-675F-0D6F-AB2C193AE050}"/>
              </a:ext>
            </a:extLst>
          </p:cNvPr>
          <p:cNvSpPr/>
          <p:nvPr/>
        </p:nvSpPr>
        <p:spPr>
          <a:xfrm>
            <a:off x="0" y="6405373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7F187BF5-3B23-2264-B255-8C03E99455FE}"/>
              </a:ext>
            </a:extLst>
          </p:cNvPr>
          <p:cNvSpPr/>
          <p:nvPr/>
        </p:nvSpPr>
        <p:spPr>
          <a:xfrm>
            <a:off x="320040" y="155449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5">
            <a:extLst>
              <a:ext uri="{FF2B5EF4-FFF2-40B4-BE49-F238E27FC236}">
                <a16:creationId xmlns:a16="http://schemas.microsoft.com/office/drawing/2014/main" id="{42B2824C-C03F-3B3D-1D5B-179832EB8404}"/>
              </a:ext>
            </a:extLst>
          </p:cNvPr>
          <p:cNvSpPr/>
          <p:nvPr/>
        </p:nvSpPr>
        <p:spPr>
          <a:xfrm>
            <a:off x="475488" y="118873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B3A7A"/>
                </a:solidFill>
              </a:rPr>
              <a:t>Analysis &amp; Requirements</a:t>
            </a:r>
            <a:endParaRPr lang="en-US" sz="1900" dirty="0"/>
          </a:p>
        </p:txBody>
      </p:sp>
      <p:sp>
        <p:nvSpPr>
          <p:cNvPr id="21" name="Shape 26">
            <a:extLst>
              <a:ext uri="{FF2B5EF4-FFF2-40B4-BE49-F238E27FC236}">
                <a16:creationId xmlns:a16="http://schemas.microsoft.com/office/drawing/2014/main" id="{AA1CBBFC-D026-679A-6095-7C975AB156DB}"/>
              </a:ext>
            </a:extLst>
          </p:cNvPr>
          <p:cNvSpPr/>
          <p:nvPr/>
        </p:nvSpPr>
        <p:spPr>
          <a:xfrm>
            <a:off x="11677227" y="6405373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22" name="Text 27">
            <a:extLst>
              <a:ext uri="{FF2B5EF4-FFF2-40B4-BE49-F238E27FC236}">
                <a16:creationId xmlns:a16="http://schemas.microsoft.com/office/drawing/2014/main" id="{0562CCB8-534C-AF79-8944-F73805604A0C}"/>
              </a:ext>
            </a:extLst>
          </p:cNvPr>
          <p:cNvSpPr/>
          <p:nvPr/>
        </p:nvSpPr>
        <p:spPr>
          <a:xfrm>
            <a:off x="11668760" y="6405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11</a:t>
            </a:r>
            <a:endParaRPr lang="en-US" sz="1400" dirty="0"/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EC29EBB2-9B32-C9BC-BF67-3D93A37B395D}"/>
              </a:ext>
            </a:extLst>
          </p:cNvPr>
          <p:cNvSpPr/>
          <p:nvPr/>
        </p:nvSpPr>
        <p:spPr>
          <a:xfrm>
            <a:off x="5139267" y="2651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4A3B8"/>
                </a:solidFill>
              </a:rPr>
              <a:t>Actors</a:t>
            </a:r>
            <a:r>
              <a:rPr lang="en-US" sz="1200" b="1" dirty="0">
                <a:solidFill>
                  <a:srgbClr val="1B3A7A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| </a:t>
            </a:r>
            <a:r>
              <a:rPr lang="en-US" sz="1200" b="1" dirty="0">
                <a:solidFill>
                  <a:srgbClr val="204478"/>
                </a:solidFill>
              </a:rPr>
              <a:t>Specification of Requirements</a:t>
            </a:r>
            <a:r>
              <a:rPr lang="en-US" sz="1200" dirty="0">
                <a:solidFill>
                  <a:srgbClr val="94A3B8"/>
                </a:solidFill>
              </a:rPr>
              <a:t> | Use Case Diagram</a:t>
            </a:r>
          </a:p>
        </p:txBody>
      </p:sp>
      <p:sp>
        <p:nvSpPr>
          <p:cNvPr id="25" name="Shape 15">
            <a:extLst>
              <a:ext uri="{FF2B5EF4-FFF2-40B4-BE49-F238E27FC236}">
                <a16:creationId xmlns:a16="http://schemas.microsoft.com/office/drawing/2014/main" id="{244EA9D6-F84D-0D8C-B71F-88989D06928B}"/>
              </a:ext>
            </a:extLst>
          </p:cNvPr>
          <p:cNvSpPr/>
          <p:nvPr/>
        </p:nvSpPr>
        <p:spPr>
          <a:xfrm>
            <a:off x="7687734" y="1660484"/>
            <a:ext cx="2606040" cy="3840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pPr algn="ctr"/>
            <a:r>
              <a:rPr lang="en-US" b="1" dirty="0">
                <a:solidFill>
                  <a:srgbClr val="FFFFFF"/>
                </a:solidFill>
              </a:rPr>
              <a:t>Decisional</a:t>
            </a:r>
            <a:endParaRPr lang="en-US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DE4F7FB9-1F0B-E4E2-826F-9CAC9E9099E4}"/>
              </a:ext>
            </a:extLst>
          </p:cNvPr>
          <p:cNvSpPr/>
          <p:nvPr/>
        </p:nvSpPr>
        <p:spPr>
          <a:xfrm>
            <a:off x="7687734" y="2044532"/>
            <a:ext cx="2606040" cy="3547872"/>
          </a:xfrm>
          <a:prstGeom prst="rect">
            <a:avLst/>
          </a:prstGeom>
          <a:solidFill>
            <a:srgbClr val="F5F7FA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pPr marL="342900" indent="-342900">
              <a:buSzPct val="100000"/>
              <a:buChar char="•"/>
            </a:pPr>
            <a:endParaRPr lang="en-US" dirty="0">
              <a:solidFill>
                <a:srgbClr val="1E293B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KPI Cards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Budget Utilization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Designer Utilization</a:t>
            </a:r>
          </a:p>
          <a:p>
            <a:pPr marL="342900" indent="-342900">
              <a:buSzPct val="100000"/>
              <a:buFontTx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Scope Creep Index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Revision-to-Approval</a:t>
            </a:r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Profitability Ranking</a:t>
            </a:r>
          </a:p>
        </p:txBody>
      </p:sp>
    </p:spTree>
    <p:extLst>
      <p:ext uri="{BB962C8B-B14F-4D97-AF65-F5344CB8AC3E}">
        <p14:creationId xmlns:p14="http://schemas.microsoft.com/office/powerpoint/2010/main" val="1145271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7CE041E-4877-D15C-C56A-57D7C85AED5F}"/>
              </a:ext>
            </a:extLst>
          </p:cNvPr>
          <p:cNvSpPr/>
          <p:nvPr/>
        </p:nvSpPr>
        <p:spPr>
          <a:xfrm>
            <a:off x="11140440" y="2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B574A13-78AA-F50B-502F-D9ACB67C0DC5}"/>
              </a:ext>
            </a:extLst>
          </p:cNvPr>
          <p:cNvSpPr/>
          <p:nvPr/>
        </p:nvSpPr>
        <p:spPr>
          <a:xfrm>
            <a:off x="11597640" y="2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C7E848A-BD25-EDB4-CFF6-D04826C6C593}"/>
              </a:ext>
            </a:extLst>
          </p:cNvPr>
          <p:cNvSpPr/>
          <p:nvPr/>
        </p:nvSpPr>
        <p:spPr>
          <a:xfrm>
            <a:off x="0" y="6057902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F217461-4043-FC28-8B4A-AE7EC8CED2AF}"/>
              </a:ext>
            </a:extLst>
          </p:cNvPr>
          <p:cNvSpPr/>
          <p:nvPr/>
        </p:nvSpPr>
        <p:spPr>
          <a:xfrm>
            <a:off x="0" y="6405374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C24C166-969B-3B37-8411-49A07C082732}"/>
              </a:ext>
            </a:extLst>
          </p:cNvPr>
          <p:cNvSpPr/>
          <p:nvPr/>
        </p:nvSpPr>
        <p:spPr>
          <a:xfrm>
            <a:off x="320040" y="155450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B1EA271-F2B9-6614-E208-68CFC0A50258}"/>
              </a:ext>
            </a:extLst>
          </p:cNvPr>
          <p:cNvSpPr/>
          <p:nvPr/>
        </p:nvSpPr>
        <p:spPr>
          <a:xfrm>
            <a:off x="475488" y="11887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Design &amp; Architecture</a:t>
            </a:r>
            <a:endParaRPr lang="en-US" sz="1900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F2D32812-6FCB-AE25-B7A9-D4EE36FC63D1}"/>
              </a:ext>
            </a:extLst>
          </p:cNvPr>
          <p:cNvSpPr/>
          <p:nvPr/>
        </p:nvSpPr>
        <p:spPr>
          <a:xfrm>
            <a:off x="11677227" y="6405374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675B74A8-43DB-2DBC-6603-2CED99A3FCB7}"/>
              </a:ext>
            </a:extLst>
          </p:cNvPr>
          <p:cNvSpPr/>
          <p:nvPr/>
        </p:nvSpPr>
        <p:spPr>
          <a:xfrm>
            <a:off x="11668760" y="64053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12</a:t>
            </a:r>
            <a:endParaRPr lang="en-US" sz="14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02DA914-EFD0-3E93-008C-D1CD0F9BF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7" t="2351" r="2735" b="2867"/>
          <a:stretch>
            <a:fillRect/>
          </a:stretch>
        </p:blipFill>
        <p:spPr>
          <a:xfrm>
            <a:off x="1474893" y="514722"/>
            <a:ext cx="9665546" cy="6343278"/>
          </a:xfrm>
          <a:prstGeom prst="rect">
            <a:avLst/>
          </a:prstGeom>
        </p:spPr>
      </p:pic>
      <p:sp>
        <p:nvSpPr>
          <p:cNvPr id="11" name="Text 6">
            <a:extLst>
              <a:ext uri="{FF2B5EF4-FFF2-40B4-BE49-F238E27FC236}">
                <a16:creationId xmlns:a16="http://schemas.microsoft.com/office/drawing/2014/main" id="{19F6839F-A1FF-4F08-50E9-6832B98C96C1}"/>
              </a:ext>
            </a:extLst>
          </p:cNvPr>
          <p:cNvSpPr/>
          <p:nvPr/>
        </p:nvSpPr>
        <p:spPr>
          <a:xfrm>
            <a:off x="5139267" y="2651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4A3B8"/>
                </a:solidFill>
              </a:rPr>
              <a:t>Actors</a:t>
            </a:r>
            <a:r>
              <a:rPr lang="en-US" sz="1200" b="1" dirty="0">
                <a:solidFill>
                  <a:srgbClr val="1B3A7A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| Specification of Requirements | </a:t>
            </a:r>
            <a:r>
              <a:rPr lang="en-US" sz="1200" b="1" dirty="0">
                <a:solidFill>
                  <a:srgbClr val="204478"/>
                </a:solidFill>
              </a:rPr>
              <a:t>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889814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45F6A7-417C-D361-C762-A2AFA7EFB00F}"/>
              </a:ext>
            </a:extLst>
          </p:cNvPr>
          <p:cNvSpPr/>
          <p:nvPr/>
        </p:nvSpPr>
        <p:spPr>
          <a:xfrm>
            <a:off x="1051560" y="777240"/>
            <a:ext cx="4492415" cy="478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AEEF6"/>
                </a:solidFill>
              </a:rPr>
              <a:t>04</a:t>
            </a:r>
            <a:endParaRPr lang="en-US" sz="150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277A64E8-9239-93A5-87CA-97444A22B1BB}"/>
              </a:ext>
            </a:extLst>
          </p:cNvPr>
          <p:cNvSpPr/>
          <p:nvPr/>
        </p:nvSpPr>
        <p:spPr>
          <a:xfrm>
            <a:off x="1771226" y="2793324"/>
            <a:ext cx="898483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3A7A"/>
                </a:solidFill>
              </a:rPr>
              <a:t>Design &amp; Architecture</a:t>
            </a:r>
            <a:endParaRPr lang="en-US" sz="2800" dirty="0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7B7150CC-D00F-EFC4-240A-7B3FEFFA19CA}"/>
              </a:ext>
            </a:extLst>
          </p:cNvPr>
          <p:cNvSpPr/>
          <p:nvPr/>
        </p:nvSpPr>
        <p:spPr>
          <a:xfrm>
            <a:off x="11140440" y="0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3EF2828A-A351-300F-68EC-8D3A1E0789A9}"/>
              </a:ext>
            </a:extLst>
          </p:cNvPr>
          <p:cNvSpPr/>
          <p:nvPr/>
        </p:nvSpPr>
        <p:spPr>
          <a:xfrm>
            <a:off x="11597640" y="0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3FF7383D-2ABF-521C-6AEE-3AEB4A6AF84A}"/>
              </a:ext>
            </a:extLst>
          </p:cNvPr>
          <p:cNvSpPr/>
          <p:nvPr/>
        </p:nvSpPr>
        <p:spPr>
          <a:xfrm>
            <a:off x="0" y="6057900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B3A42455-B430-694E-8A07-A5FB184F7FB0}"/>
              </a:ext>
            </a:extLst>
          </p:cNvPr>
          <p:cNvSpPr/>
          <p:nvPr/>
        </p:nvSpPr>
        <p:spPr>
          <a:xfrm>
            <a:off x="0" y="6405372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C1F1EA19-EC63-A46C-6F8A-983D4C390EEA}"/>
              </a:ext>
            </a:extLst>
          </p:cNvPr>
          <p:cNvSpPr/>
          <p:nvPr/>
        </p:nvSpPr>
        <p:spPr>
          <a:xfrm>
            <a:off x="1656078" y="2793324"/>
            <a:ext cx="7226050" cy="45719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26">
            <a:extLst>
              <a:ext uri="{FF2B5EF4-FFF2-40B4-BE49-F238E27FC236}">
                <a16:creationId xmlns:a16="http://schemas.microsoft.com/office/drawing/2014/main" id="{BCB79253-3911-9BC6-3DFD-3E951FB357A9}"/>
              </a:ext>
            </a:extLst>
          </p:cNvPr>
          <p:cNvSpPr/>
          <p:nvPr/>
        </p:nvSpPr>
        <p:spPr>
          <a:xfrm>
            <a:off x="11677227" y="6405372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17" name="Text 27">
            <a:extLst>
              <a:ext uri="{FF2B5EF4-FFF2-40B4-BE49-F238E27FC236}">
                <a16:creationId xmlns:a16="http://schemas.microsoft.com/office/drawing/2014/main" id="{D8F94982-80D5-7D91-62CF-5ACB3B35EB86}"/>
              </a:ext>
            </a:extLst>
          </p:cNvPr>
          <p:cNvSpPr/>
          <p:nvPr/>
        </p:nvSpPr>
        <p:spPr>
          <a:xfrm>
            <a:off x="11668760" y="640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13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3210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138D1F32-020A-ADC3-7694-60C9B93DE2A2}"/>
              </a:ext>
            </a:extLst>
          </p:cNvPr>
          <p:cNvSpPr/>
          <p:nvPr/>
        </p:nvSpPr>
        <p:spPr>
          <a:xfrm>
            <a:off x="11140440" y="1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1">
            <a:extLst>
              <a:ext uri="{FF2B5EF4-FFF2-40B4-BE49-F238E27FC236}">
                <a16:creationId xmlns:a16="http://schemas.microsoft.com/office/drawing/2014/main" id="{A15BA155-0590-4035-7DBE-063C9AFBA485}"/>
              </a:ext>
            </a:extLst>
          </p:cNvPr>
          <p:cNvSpPr/>
          <p:nvPr/>
        </p:nvSpPr>
        <p:spPr>
          <a:xfrm>
            <a:off x="11597640" y="1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2">
            <a:extLst>
              <a:ext uri="{FF2B5EF4-FFF2-40B4-BE49-F238E27FC236}">
                <a16:creationId xmlns:a16="http://schemas.microsoft.com/office/drawing/2014/main" id="{253776DD-89C8-574E-C5DC-EBC6655A0452}"/>
              </a:ext>
            </a:extLst>
          </p:cNvPr>
          <p:cNvSpPr/>
          <p:nvPr/>
        </p:nvSpPr>
        <p:spPr>
          <a:xfrm>
            <a:off x="0" y="6057901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D91DD9F7-8D16-0446-BAA7-5C30FDC9BEA5}"/>
              </a:ext>
            </a:extLst>
          </p:cNvPr>
          <p:cNvSpPr/>
          <p:nvPr/>
        </p:nvSpPr>
        <p:spPr>
          <a:xfrm>
            <a:off x="0" y="6405373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E99C62BE-CAA1-9FEB-8F75-84D5B6C79A87}"/>
              </a:ext>
            </a:extLst>
          </p:cNvPr>
          <p:cNvSpPr/>
          <p:nvPr/>
        </p:nvSpPr>
        <p:spPr>
          <a:xfrm>
            <a:off x="320040" y="155449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C3DD68D3-D41A-237F-3AA4-BF9C146B0A8C}"/>
              </a:ext>
            </a:extLst>
          </p:cNvPr>
          <p:cNvSpPr/>
          <p:nvPr/>
        </p:nvSpPr>
        <p:spPr>
          <a:xfrm>
            <a:off x="475488" y="118873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Design &amp; Architecture</a:t>
            </a:r>
            <a:endParaRPr lang="en-US" sz="1900" dirty="0"/>
          </a:p>
        </p:txBody>
      </p:sp>
      <p:sp>
        <p:nvSpPr>
          <p:cNvPr id="14" name="Shape 26">
            <a:extLst>
              <a:ext uri="{FF2B5EF4-FFF2-40B4-BE49-F238E27FC236}">
                <a16:creationId xmlns:a16="http://schemas.microsoft.com/office/drawing/2014/main" id="{4956FDBC-8FFA-4149-BA3D-D4968515C421}"/>
              </a:ext>
            </a:extLst>
          </p:cNvPr>
          <p:cNvSpPr/>
          <p:nvPr/>
        </p:nvSpPr>
        <p:spPr>
          <a:xfrm>
            <a:off x="11677227" y="6405373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15" name="Text 27">
            <a:extLst>
              <a:ext uri="{FF2B5EF4-FFF2-40B4-BE49-F238E27FC236}">
                <a16:creationId xmlns:a16="http://schemas.microsoft.com/office/drawing/2014/main" id="{B5DC457B-7D92-E506-014D-27D6A259E628}"/>
              </a:ext>
            </a:extLst>
          </p:cNvPr>
          <p:cNvSpPr/>
          <p:nvPr/>
        </p:nvSpPr>
        <p:spPr>
          <a:xfrm>
            <a:off x="11668760" y="6405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15</a:t>
            </a:r>
            <a:endParaRPr lang="en-US" sz="14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476849C-31C9-0A00-30EA-C1BBD0A315E2}"/>
              </a:ext>
            </a:extLst>
          </p:cNvPr>
          <p:cNvSpPr/>
          <p:nvPr/>
        </p:nvSpPr>
        <p:spPr>
          <a:xfrm>
            <a:off x="5037667" y="265175"/>
            <a:ext cx="5679440" cy="28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B3A7A"/>
                </a:solidFill>
              </a:rPr>
              <a:t>Technologies</a:t>
            </a:r>
            <a:r>
              <a:rPr lang="en-US" sz="1200" dirty="0">
                <a:solidFill>
                  <a:srgbClr val="94A3B8"/>
                </a:solidFill>
              </a:rPr>
              <a:t> | Architecture</a:t>
            </a:r>
            <a:r>
              <a:rPr lang="en-US" sz="1200" b="1" dirty="0">
                <a:solidFill>
                  <a:srgbClr val="1B3A7A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| Class Diagram | Sequence Diagram</a:t>
            </a:r>
            <a:endParaRPr lang="en-US" sz="1200" dirty="0"/>
          </a:p>
        </p:txBody>
      </p:sp>
      <p:pic>
        <p:nvPicPr>
          <p:cNvPr id="17" name="Graphic 4">
            <a:extLst>
              <a:ext uri="{FF2B5EF4-FFF2-40B4-BE49-F238E27FC236}">
                <a16:creationId xmlns:a16="http://schemas.microsoft.com/office/drawing/2014/main" id="{918A48CE-F700-B8AA-0749-F42767CF6D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6863" y="1374844"/>
            <a:ext cx="1026371" cy="1026371"/>
          </a:xfrm>
          <a:prstGeom prst="rect">
            <a:avLst/>
          </a:prstGeom>
        </p:spPr>
      </p:pic>
      <p:pic>
        <p:nvPicPr>
          <p:cNvPr id="18" name="Graphic 5">
            <a:extLst>
              <a:ext uri="{FF2B5EF4-FFF2-40B4-BE49-F238E27FC236}">
                <a16:creationId xmlns:a16="http://schemas.microsoft.com/office/drawing/2014/main" id="{CB68E4A0-837E-35BF-75CA-3C167EFAD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5544" y="1196535"/>
            <a:ext cx="1382987" cy="1382987"/>
          </a:xfrm>
          <a:prstGeom prst="rect">
            <a:avLst/>
          </a:prstGeom>
        </p:spPr>
      </p:pic>
      <p:pic>
        <p:nvPicPr>
          <p:cNvPr id="19" name="Graphic 7">
            <a:extLst>
              <a:ext uri="{FF2B5EF4-FFF2-40B4-BE49-F238E27FC236}">
                <a16:creationId xmlns:a16="http://schemas.microsoft.com/office/drawing/2014/main" id="{4BD0907C-D3FC-9886-4F0A-5F071ABFE9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0841" y="1459296"/>
            <a:ext cx="1120226" cy="1120226"/>
          </a:xfrm>
          <a:prstGeom prst="rect">
            <a:avLst/>
          </a:prstGeom>
        </p:spPr>
      </p:pic>
      <p:pic>
        <p:nvPicPr>
          <p:cNvPr id="20" name="Graphic 11">
            <a:extLst>
              <a:ext uri="{FF2B5EF4-FFF2-40B4-BE49-F238E27FC236}">
                <a16:creationId xmlns:a16="http://schemas.microsoft.com/office/drawing/2014/main" id="{AA4D5ED0-EA82-96C7-FC2D-40B7BB79D7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54044" y="1533512"/>
            <a:ext cx="1536607" cy="943043"/>
          </a:xfrm>
          <a:prstGeom prst="rect">
            <a:avLst/>
          </a:prstGeom>
        </p:spPr>
      </p:pic>
      <p:pic>
        <p:nvPicPr>
          <p:cNvPr id="21" name="Graphic 12">
            <a:extLst>
              <a:ext uri="{FF2B5EF4-FFF2-40B4-BE49-F238E27FC236}">
                <a16:creationId xmlns:a16="http://schemas.microsoft.com/office/drawing/2014/main" id="{7589BFEC-9FEC-20F3-291C-1CCADD637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36305" y="3003210"/>
            <a:ext cx="1012296" cy="996451"/>
          </a:xfrm>
          <a:prstGeom prst="rect">
            <a:avLst/>
          </a:prstGeom>
        </p:spPr>
      </p:pic>
      <p:pic>
        <p:nvPicPr>
          <p:cNvPr id="22" name="Graphic 14">
            <a:extLst>
              <a:ext uri="{FF2B5EF4-FFF2-40B4-BE49-F238E27FC236}">
                <a16:creationId xmlns:a16="http://schemas.microsoft.com/office/drawing/2014/main" id="{0B38051D-9394-FC5F-B220-939CE83C7F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74210" y="3088671"/>
            <a:ext cx="897361" cy="897361"/>
          </a:xfrm>
          <a:prstGeom prst="rect">
            <a:avLst/>
          </a:prstGeom>
        </p:spPr>
      </p:pic>
      <p:pic>
        <p:nvPicPr>
          <p:cNvPr id="23" name="Graphic 13">
            <a:extLst>
              <a:ext uri="{FF2B5EF4-FFF2-40B4-BE49-F238E27FC236}">
                <a16:creationId xmlns:a16="http://schemas.microsoft.com/office/drawing/2014/main" id="{D5578565-D757-C1CF-34C5-EB4743244A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2813" y="2922852"/>
            <a:ext cx="1012296" cy="1012296"/>
          </a:xfrm>
          <a:prstGeom prst="rect">
            <a:avLst/>
          </a:prstGeom>
        </p:spPr>
      </p:pic>
      <p:pic>
        <p:nvPicPr>
          <p:cNvPr id="24" name="Graphic 18">
            <a:extLst>
              <a:ext uri="{FF2B5EF4-FFF2-40B4-BE49-F238E27FC236}">
                <a16:creationId xmlns:a16="http://schemas.microsoft.com/office/drawing/2014/main" id="{52B0CA5E-9B68-A1FD-3E36-BF6D3A5E60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3407" y="1562263"/>
            <a:ext cx="914292" cy="91429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7ACF255-FA5F-71B2-73E3-779751645A0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397" y="1503854"/>
            <a:ext cx="897361" cy="89736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C9A18C5-403D-94F4-DEF2-A94110AFEF4E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318" y="3114598"/>
            <a:ext cx="789517" cy="789517"/>
          </a:xfrm>
          <a:prstGeom prst="rect">
            <a:avLst/>
          </a:prstGeom>
        </p:spPr>
      </p:pic>
      <p:pic>
        <p:nvPicPr>
          <p:cNvPr id="27" name="Graphic 21">
            <a:extLst>
              <a:ext uri="{FF2B5EF4-FFF2-40B4-BE49-F238E27FC236}">
                <a16:creationId xmlns:a16="http://schemas.microsoft.com/office/drawing/2014/main" id="{95F5614D-FAC8-4989-C00E-D2F3AB5F70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27590" y="3114598"/>
            <a:ext cx="789517" cy="789517"/>
          </a:xfrm>
          <a:prstGeom prst="rect">
            <a:avLst/>
          </a:prstGeom>
        </p:spPr>
      </p:pic>
      <p:pic>
        <p:nvPicPr>
          <p:cNvPr id="28" name="Graphic 22">
            <a:extLst>
              <a:ext uri="{FF2B5EF4-FFF2-40B4-BE49-F238E27FC236}">
                <a16:creationId xmlns:a16="http://schemas.microsoft.com/office/drawing/2014/main" id="{AFBBE1D6-E1AF-7BAA-5821-D16C3FEFA1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44405" y="3003210"/>
            <a:ext cx="1012295" cy="1012295"/>
          </a:xfrm>
          <a:prstGeom prst="rect">
            <a:avLst/>
          </a:prstGeom>
        </p:spPr>
      </p:pic>
      <p:sp>
        <p:nvSpPr>
          <p:cNvPr id="29" name="Right Brace 28">
            <a:extLst>
              <a:ext uri="{FF2B5EF4-FFF2-40B4-BE49-F238E27FC236}">
                <a16:creationId xmlns:a16="http://schemas.microsoft.com/office/drawing/2014/main" id="{B3558707-CF9B-8024-B960-CD63D716E92A}"/>
              </a:ext>
            </a:extLst>
          </p:cNvPr>
          <p:cNvSpPr/>
          <p:nvPr/>
        </p:nvSpPr>
        <p:spPr>
          <a:xfrm rot="5400000">
            <a:off x="2741043" y="2413888"/>
            <a:ext cx="1012295" cy="4448757"/>
          </a:xfrm>
          <a:prstGeom prst="rightBrace">
            <a:avLst/>
          </a:prstGeom>
          <a:ln w="38100">
            <a:solidFill>
              <a:srgbClr val="204478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ight Brace 29">
            <a:extLst>
              <a:ext uri="{FF2B5EF4-FFF2-40B4-BE49-F238E27FC236}">
                <a16:creationId xmlns:a16="http://schemas.microsoft.com/office/drawing/2014/main" id="{2FBFC53A-842E-C75B-FAE8-C6DF632155DF}"/>
              </a:ext>
            </a:extLst>
          </p:cNvPr>
          <p:cNvSpPr/>
          <p:nvPr/>
        </p:nvSpPr>
        <p:spPr>
          <a:xfrm rot="5400000">
            <a:off x="8199109" y="2626417"/>
            <a:ext cx="1012295" cy="4023700"/>
          </a:xfrm>
          <a:prstGeom prst="rightBrace">
            <a:avLst/>
          </a:prstGeom>
          <a:ln w="38100">
            <a:solidFill>
              <a:srgbClr val="204478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297C270E-1A2E-B5A0-7031-61927BF28D27}"/>
              </a:ext>
            </a:extLst>
          </p:cNvPr>
          <p:cNvSpPr/>
          <p:nvPr/>
        </p:nvSpPr>
        <p:spPr>
          <a:xfrm>
            <a:off x="1777899" y="5290500"/>
            <a:ext cx="2929107" cy="329184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40EB6111-EBCD-804D-BE35-C59817739DE4}"/>
              </a:ext>
            </a:extLst>
          </p:cNvPr>
          <p:cNvSpPr/>
          <p:nvPr/>
        </p:nvSpPr>
        <p:spPr>
          <a:xfrm>
            <a:off x="1929011" y="5290500"/>
            <a:ext cx="215146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algn="ctr"/>
            <a:r>
              <a:rPr lang="en-US" sz="1600" b="1" dirty="0">
                <a:solidFill>
                  <a:srgbClr val="FFFFFF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8FB975F9-2DBB-06DB-8344-B7169B334F31}"/>
              </a:ext>
            </a:extLst>
          </p:cNvPr>
          <p:cNvSpPr/>
          <p:nvPr/>
        </p:nvSpPr>
        <p:spPr>
          <a:xfrm>
            <a:off x="7333882" y="5261027"/>
            <a:ext cx="2929107" cy="329184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84871047-58B0-2496-B456-E41B4966B93D}"/>
              </a:ext>
            </a:extLst>
          </p:cNvPr>
          <p:cNvSpPr/>
          <p:nvPr/>
        </p:nvSpPr>
        <p:spPr>
          <a:xfrm>
            <a:off x="7333882" y="5251891"/>
            <a:ext cx="2479351" cy="347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algn="ctr"/>
            <a:r>
              <a:rPr lang="en-US" sz="1600" b="1" dirty="0">
                <a:solidFill>
                  <a:srgbClr val="FFFFFF"/>
                </a:solidFill>
              </a:rPr>
              <a:t>Development Tools</a:t>
            </a:r>
            <a:endParaRPr lang="en-US" sz="1600" dirty="0"/>
          </a:p>
        </p:txBody>
      </p:sp>
      <p:sp>
        <p:nvSpPr>
          <p:cNvPr id="35" name="Shape 0">
            <a:extLst>
              <a:ext uri="{FF2B5EF4-FFF2-40B4-BE49-F238E27FC236}">
                <a16:creationId xmlns:a16="http://schemas.microsoft.com/office/drawing/2014/main" id="{16DC43F8-D15C-DFE8-39FD-145CA185F319}"/>
              </a:ext>
            </a:extLst>
          </p:cNvPr>
          <p:cNvSpPr/>
          <p:nvPr/>
        </p:nvSpPr>
        <p:spPr>
          <a:xfrm>
            <a:off x="11140440" y="2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824B8000-DE24-9F05-1CD0-9EC1D3B19429}"/>
              </a:ext>
            </a:extLst>
          </p:cNvPr>
          <p:cNvSpPr/>
          <p:nvPr/>
        </p:nvSpPr>
        <p:spPr>
          <a:xfrm>
            <a:off x="11597640" y="2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84CE2709-BCD8-5DA9-4A5C-240B1FEC59F7}"/>
              </a:ext>
            </a:extLst>
          </p:cNvPr>
          <p:cNvSpPr/>
          <p:nvPr/>
        </p:nvSpPr>
        <p:spPr>
          <a:xfrm>
            <a:off x="0" y="6057902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50CB998F-CD11-5582-FA46-5E2EE1FE0BC5}"/>
              </a:ext>
            </a:extLst>
          </p:cNvPr>
          <p:cNvSpPr/>
          <p:nvPr/>
        </p:nvSpPr>
        <p:spPr>
          <a:xfrm>
            <a:off x="0" y="6405374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4D1DEB61-AFC6-971F-9858-AC2C6D148786}"/>
              </a:ext>
            </a:extLst>
          </p:cNvPr>
          <p:cNvSpPr/>
          <p:nvPr/>
        </p:nvSpPr>
        <p:spPr>
          <a:xfrm>
            <a:off x="320040" y="155450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8452E820-6503-862F-2B68-6EBDCF362915}"/>
              </a:ext>
            </a:extLst>
          </p:cNvPr>
          <p:cNvSpPr/>
          <p:nvPr/>
        </p:nvSpPr>
        <p:spPr>
          <a:xfrm>
            <a:off x="475488" y="11887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Design &amp; Architecture</a:t>
            </a:r>
            <a:endParaRPr lang="en-US" sz="1900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1D2FE6EF-0C66-683C-8324-CD7E87DFB67D}"/>
              </a:ext>
            </a:extLst>
          </p:cNvPr>
          <p:cNvSpPr/>
          <p:nvPr/>
        </p:nvSpPr>
        <p:spPr>
          <a:xfrm>
            <a:off x="11677227" y="6405374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42" name="Text 27">
            <a:extLst>
              <a:ext uri="{FF2B5EF4-FFF2-40B4-BE49-F238E27FC236}">
                <a16:creationId xmlns:a16="http://schemas.microsoft.com/office/drawing/2014/main" id="{553BD52F-4683-F2C3-7926-3E2EBA19C405}"/>
              </a:ext>
            </a:extLst>
          </p:cNvPr>
          <p:cNvSpPr/>
          <p:nvPr/>
        </p:nvSpPr>
        <p:spPr>
          <a:xfrm>
            <a:off x="11668760" y="64053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14</a:t>
            </a:r>
            <a:endParaRPr lang="en-US" sz="1400" dirty="0"/>
          </a:p>
        </p:txBody>
      </p:sp>
      <p:pic>
        <p:nvPicPr>
          <p:cNvPr id="45" name="Graphic 18">
            <a:extLst>
              <a:ext uri="{FF2B5EF4-FFF2-40B4-BE49-F238E27FC236}">
                <a16:creationId xmlns:a16="http://schemas.microsoft.com/office/drawing/2014/main" id="{EA822EE4-F095-B1F4-B09A-B744605F39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93407" y="1562264"/>
            <a:ext cx="914292" cy="91429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B3110B7-6067-F1BD-3854-E37FC5140B66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3397" y="1503855"/>
            <a:ext cx="897361" cy="897361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0E5E03AC-7A9A-5331-89A8-6E46DBE0AEF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7318" y="3114599"/>
            <a:ext cx="789517" cy="789517"/>
          </a:xfrm>
          <a:prstGeom prst="rect">
            <a:avLst/>
          </a:prstGeom>
        </p:spPr>
      </p:pic>
      <p:pic>
        <p:nvPicPr>
          <p:cNvPr id="48" name="Graphic 21">
            <a:extLst>
              <a:ext uri="{FF2B5EF4-FFF2-40B4-BE49-F238E27FC236}">
                <a16:creationId xmlns:a16="http://schemas.microsoft.com/office/drawing/2014/main" id="{E7A52E0B-125C-5BB4-366A-1F1944A47B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927590" y="3114599"/>
            <a:ext cx="789517" cy="789517"/>
          </a:xfrm>
          <a:prstGeom prst="rect">
            <a:avLst/>
          </a:prstGeom>
        </p:spPr>
      </p:pic>
      <p:pic>
        <p:nvPicPr>
          <p:cNvPr id="49" name="Graphic 22">
            <a:extLst>
              <a:ext uri="{FF2B5EF4-FFF2-40B4-BE49-F238E27FC236}">
                <a16:creationId xmlns:a16="http://schemas.microsoft.com/office/drawing/2014/main" id="{FF3BDD49-1C8C-104C-0DCB-3C4FB0EBF1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44405" y="3003211"/>
            <a:ext cx="1012295" cy="1012295"/>
          </a:xfrm>
          <a:prstGeom prst="rect">
            <a:avLst/>
          </a:prstGeom>
        </p:spPr>
      </p:pic>
      <p:sp>
        <p:nvSpPr>
          <p:cNvPr id="51" name="Text 8">
            <a:extLst>
              <a:ext uri="{FF2B5EF4-FFF2-40B4-BE49-F238E27FC236}">
                <a16:creationId xmlns:a16="http://schemas.microsoft.com/office/drawing/2014/main" id="{054A769B-C129-E25F-41EA-D6DBE208777D}"/>
              </a:ext>
            </a:extLst>
          </p:cNvPr>
          <p:cNvSpPr/>
          <p:nvPr/>
        </p:nvSpPr>
        <p:spPr>
          <a:xfrm>
            <a:off x="1929011" y="5290501"/>
            <a:ext cx="215146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algn="ctr"/>
            <a:r>
              <a:rPr lang="en-US" sz="1600" b="1" dirty="0">
                <a:solidFill>
                  <a:srgbClr val="FFFFFF"/>
                </a:solidFill>
              </a:rPr>
              <a:t>Tech Stack</a:t>
            </a:r>
            <a:endParaRPr lang="en-US" sz="1600" dirty="0"/>
          </a:p>
        </p:txBody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59FF927F-4DDC-2B24-68BC-DCDAEED2A281}"/>
              </a:ext>
            </a:extLst>
          </p:cNvPr>
          <p:cNvSpPr/>
          <p:nvPr/>
        </p:nvSpPr>
        <p:spPr>
          <a:xfrm>
            <a:off x="7333882" y="5261028"/>
            <a:ext cx="2929107" cy="329184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54" name="Text 8">
            <a:extLst>
              <a:ext uri="{FF2B5EF4-FFF2-40B4-BE49-F238E27FC236}">
                <a16:creationId xmlns:a16="http://schemas.microsoft.com/office/drawing/2014/main" id="{7B4EB164-53E0-D42A-3CDE-89EFC217E0D2}"/>
              </a:ext>
            </a:extLst>
          </p:cNvPr>
          <p:cNvSpPr/>
          <p:nvPr/>
        </p:nvSpPr>
        <p:spPr>
          <a:xfrm>
            <a:off x="7407193" y="5251890"/>
            <a:ext cx="2429765" cy="3474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1" algn="ctr"/>
            <a:r>
              <a:rPr lang="en-US" sz="1600" b="1" dirty="0">
                <a:solidFill>
                  <a:srgbClr val="FFFFFF"/>
                </a:solidFill>
              </a:rPr>
              <a:t>Development Tools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19354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77C2497-0FDC-1807-86A8-B865287D2091}"/>
              </a:ext>
            </a:extLst>
          </p:cNvPr>
          <p:cNvSpPr/>
          <p:nvPr/>
        </p:nvSpPr>
        <p:spPr>
          <a:xfrm>
            <a:off x="11140440" y="2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B2B8915-131E-3A3B-F152-2C2E70BA3F7E}"/>
              </a:ext>
            </a:extLst>
          </p:cNvPr>
          <p:cNvSpPr/>
          <p:nvPr/>
        </p:nvSpPr>
        <p:spPr>
          <a:xfrm>
            <a:off x="11597640" y="2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FC51D50-A5B4-74BE-0D11-D8A1895EFE63}"/>
              </a:ext>
            </a:extLst>
          </p:cNvPr>
          <p:cNvSpPr/>
          <p:nvPr/>
        </p:nvSpPr>
        <p:spPr>
          <a:xfrm>
            <a:off x="0" y="6057902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F8A0B59-2E57-72F4-6D79-6A3439B200DA}"/>
              </a:ext>
            </a:extLst>
          </p:cNvPr>
          <p:cNvSpPr/>
          <p:nvPr/>
        </p:nvSpPr>
        <p:spPr>
          <a:xfrm>
            <a:off x="0" y="6405374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0D98525-4049-9DD3-DF38-4922DDD34A27}"/>
              </a:ext>
            </a:extLst>
          </p:cNvPr>
          <p:cNvSpPr/>
          <p:nvPr/>
        </p:nvSpPr>
        <p:spPr>
          <a:xfrm>
            <a:off x="320040" y="155450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B44EEA8-F3D9-9802-FB2D-95EEC50B6676}"/>
              </a:ext>
            </a:extLst>
          </p:cNvPr>
          <p:cNvSpPr/>
          <p:nvPr/>
        </p:nvSpPr>
        <p:spPr>
          <a:xfrm>
            <a:off x="475488" y="11887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Design &amp; Architecture</a:t>
            </a:r>
            <a:endParaRPr lang="en-US" sz="1900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DB9F123B-8350-A45F-BCB4-75DF846B144F}"/>
              </a:ext>
            </a:extLst>
          </p:cNvPr>
          <p:cNvSpPr/>
          <p:nvPr/>
        </p:nvSpPr>
        <p:spPr>
          <a:xfrm>
            <a:off x="11677227" y="6405374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659C21E7-E9D6-E2D1-8EC9-E9120CB5C54B}"/>
              </a:ext>
            </a:extLst>
          </p:cNvPr>
          <p:cNvSpPr/>
          <p:nvPr/>
        </p:nvSpPr>
        <p:spPr>
          <a:xfrm>
            <a:off x="11668760" y="64053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15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37AD80C-39DD-2D4F-75AB-9B114BC2C95F}"/>
              </a:ext>
            </a:extLst>
          </p:cNvPr>
          <p:cNvSpPr/>
          <p:nvPr/>
        </p:nvSpPr>
        <p:spPr>
          <a:xfrm>
            <a:off x="5037667" y="265176"/>
            <a:ext cx="5679440" cy="28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4A3B8"/>
                </a:solidFill>
              </a:rPr>
              <a:t>Technologies | </a:t>
            </a:r>
            <a:r>
              <a:rPr lang="en-US" sz="1200" b="1" dirty="0">
                <a:solidFill>
                  <a:srgbClr val="1B3A7A"/>
                </a:solidFill>
              </a:rPr>
              <a:t>Architecture </a:t>
            </a:r>
            <a:r>
              <a:rPr lang="en-US" sz="1200" dirty="0">
                <a:solidFill>
                  <a:srgbClr val="94A3B8"/>
                </a:solidFill>
              </a:rPr>
              <a:t>| Class Diagram | Sequence Diagram</a:t>
            </a:r>
            <a:endParaRPr lang="en-US" sz="1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77BD2C-4091-94C6-EA82-F92DFDD0C3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08" r="21736"/>
          <a:stretch>
            <a:fillRect/>
          </a:stretch>
        </p:blipFill>
        <p:spPr>
          <a:xfrm>
            <a:off x="3256280" y="829196"/>
            <a:ext cx="5679440" cy="5576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840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0231AE-09E9-57FF-382D-75DEDE59944D}"/>
              </a:ext>
            </a:extLst>
          </p:cNvPr>
          <p:cNvSpPr/>
          <p:nvPr/>
        </p:nvSpPr>
        <p:spPr>
          <a:xfrm>
            <a:off x="11140440" y="2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92D5E86-BE87-2FBA-8243-E3FFE7B65942}"/>
              </a:ext>
            </a:extLst>
          </p:cNvPr>
          <p:cNvSpPr/>
          <p:nvPr/>
        </p:nvSpPr>
        <p:spPr>
          <a:xfrm>
            <a:off x="11597640" y="2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FA42ACB-FD9E-A41C-0D72-15A96CBB47FF}"/>
              </a:ext>
            </a:extLst>
          </p:cNvPr>
          <p:cNvSpPr/>
          <p:nvPr/>
        </p:nvSpPr>
        <p:spPr>
          <a:xfrm>
            <a:off x="0" y="6057902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085FC4A-B1C0-71F8-2E8D-E010337CA2E5}"/>
              </a:ext>
            </a:extLst>
          </p:cNvPr>
          <p:cNvSpPr/>
          <p:nvPr/>
        </p:nvSpPr>
        <p:spPr>
          <a:xfrm>
            <a:off x="0" y="6405374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5ED49F-EE89-A9E2-258C-0F0C5937D454}"/>
              </a:ext>
            </a:extLst>
          </p:cNvPr>
          <p:cNvSpPr/>
          <p:nvPr/>
        </p:nvSpPr>
        <p:spPr>
          <a:xfrm>
            <a:off x="320040" y="155450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50DE26C-E48E-A044-F1D1-D568D233E4F4}"/>
              </a:ext>
            </a:extLst>
          </p:cNvPr>
          <p:cNvSpPr/>
          <p:nvPr/>
        </p:nvSpPr>
        <p:spPr>
          <a:xfrm>
            <a:off x="475488" y="11887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Design &amp; Architecture</a:t>
            </a:r>
            <a:endParaRPr lang="en-US" sz="1900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F05BB938-557E-E210-63E9-4E025F8E3700}"/>
              </a:ext>
            </a:extLst>
          </p:cNvPr>
          <p:cNvSpPr/>
          <p:nvPr/>
        </p:nvSpPr>
        <p:spPr>
          <a:xfrm>
            <a:off x="11677227" y="6405374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ECEF628A-E5B3-F8E6-69B0-70ECCB91799A}"/>
              </a:ext>
            </a:extLst>
          </p:cNvPr>
          <p:cNvSpPr/>
          <p:nvPr/>
        </p:nvSpPr>
        <p:spPr>
          <a:xfrm>
            <a:off x="11668760" y="64053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16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B3449205-F403-4A2E-2FF1-EF4034ECE219}"/>
              </a:ext>
            </a:extLst>
          </p:cNvPr>
          <p:cNvSpPr/>
          <p:nvPr/>
        </p:nvSpPr>
        <p:spPr>
          <a:xfrm>
            <a:off x="5037667" y="265176"/>
            <a:ext cx="5679440" cy="28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4A3B8"/>
                </a:solidFill>
              </a:rPr>
              <a:t>Technologies | Architecture</a:t>
            </a:r>
            <a:r>
              <a:rPr lang="en-US" sz="1200" b="1" dirty="0">
                <a:solidFill>
                  <a:srgbClr val="1B3A7A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| </a:t>
            </a:r>
            <a:r>
              <a:rPr lang="en-US" sz="1200" b="1" dirty="0">
                <a:solidFill>
                  <a:srgbClr val="204478"/>
                </a:solidFill>
              </a:rPr>
              <a:t>Class Diagram</a:t>
            </a:r>
            <a:r>
              <a:rPr lang="en-US" sz="1200" dirty="0">
                <a:solidFill>
                  <a:srgbClr val="94A3B8"/>
                </a:solidFill>
              </a:rPr>
              <a:t> | Sequence Diagram</a:t>
            </a:r>
            <a:endParaRPr lang="en-US" sz="1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57BAD00-7155-7823-6540-92F4A125F7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560" y="777242"/>
            <a:ext cx="10160000" cy="608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28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3DCEBAE-E935-49D3-436E-9C2B9551284C}"/>
              </a:ext>
            </a:extLst>
          </p:cNvPr>
          <p:cNvSpPr/>
          <p:nvPr/>
        </p:nvSpPr>
        <p:spPr>
          <a:xfrm>
            <a:off x="11140440" y="2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BE9C6E-2B23-A5F4-1DA0-6DEFFC310419}"/>
              </a:ext>
            </a:extLst>
          </p:cNvPr>
          <p:cNvSpPr/>
          <p:nvPr/>
        </p:nvSpPr>
        <p:spPr>
          <a:xfrm>
            <a:off x="11597640" y="2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FB533171-2294-B849-B0D7-7C6D9DEE586B}"/>
              </a:ext>
            </a:extLst>
          </p:cNvPr>
          <p:cNvSpPr/>
          <p:nvPr/>
        </p:nvSpPr>
        <p:spPr>
          <a:xfrm>
            <a:off x="0" y="6057902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A2A75A1-4BE8-E3CC-0F53-959BE5DB84D9}"/>
              </a:ext>
            </a:extLst>
          </p:cNvPr>
          <p:cNvSpPr/>
          <p:nvPr/>
        </p:nvSpPr>
        <p:spPr>
          <a:xfrm>
            <a:off x="0" y="6405374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C489A58-0CB3-90A1-5FED-EC32F8D5241B}"/>
              </a:ext>
            </a:extLst>
          </p:cNvPr>
          <p:cNvSpPr/>
          <p:nvPr/>
        </p:nvSpPr>
        <p:spPr>
          <a:xfrm>
            <a:off x="320040" y="155450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CA1F054-5341-5E98-CD07-4A42FC4FD69F}"/>
              </a:ext>
            </a:extLst>
          </p:cNvPr>
          <p:cNvSpPr/>
          <p:nvPr/>
        </p:nvSpPr>
        <p:spPr>
          <a:xfrm>
            <a:off x="475488" y="11887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B3A7A"/>
                </a:solidFill>
              </a:rPr>
              <a:t>Design &amp; Architecture</a:t>
            </a:r>
            <a:endParaRPr lang="en-US" sz="1900" dirty="0"/>
          </a:p>
        </p:txBody>
      </p:sp>
      <p:sp>
        <p:nvSpPr>
          <p:cNvPr id="8" name="Shape 26">
            <a:extLst>
              <a:ext uri="{FF2B5EF4-FFF2-40B4-BE49-F238E27FC236}">
                <a16:creationId xmlns:a16="http://schemas.microsoft.com/office/drawing/2014/main" id="{DFBE0640-3EDC-AA2A-8361-5886421E132C}"/>
              </a:ext>
            </a:extLst>
          </p:cNvPr>
          <p:cNvSpPr/>
          <p:nvPr/>
        </p:nvSpPr>
        <p:spPr>
          <a:xfrm>
            <a:off x="11677227" y="6405374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9" name="Text 27">
            <a:extLst>
              <a:ext uri="{FF2B5EF4-FFF2-40B4-BE49-F238E27FC236}">
                <a16:creationId xmlns:a16="http://schemas.microsoft.com/office/drawing/2014/main" id="{EA088D67-D187-EE71-E77C-D12F7633EFDA}"/>
              </a:ext>
            </a:extLst>
          </p:cNvPr>
          <p:cNvSpPr/>
          <p:nvPr/>
        </p:nvSpPr>
        <p:spPr>
          <a:xfrm>
            <a:off x="11668760" y="640537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17</a:t>
            </a:r>
            <a:endParaRPr lang="en-US" sz="140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5BC91F1-AF9F-B442-A253-B79D13CB4153}"/>
              </a:ext>
            </a:extLst>
          </p:cNvPr>
          <p:cNvSpPr/>
          <p:nvPr/>
        </p:nvSpPr>
        <p:spPr>
          <a:xfrm>
            <a:off x="5037667" y="265176"/>
            <a:ext cx="5679440" cy="285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4A3B8"/>
                </a:solidFill>
              </a:rPr>
              <a:t>Technologies | Architecture</a:t>
            </a:r>
            <a:r>
              <a:rPr lang="en-US" sz="1200" b="1" dirty="0">
                <a:solidFill>
                  <a:srgbClr val="1B3A7A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| Class Diagram | </a:t>
            </a:r>
            <a:r>
              <a:rPr lang="en-US" sz="1200" b="1" dirty="0">
                <a:solidFill>
                  <a:srgbClr val="204478"/>
                </a:solidFill>
              </a:rPr>
              <a:t>Sequence Diagram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A97760-B7C7-B295-7E8A-361959AA1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933" y="550332"/>
            <a:ext cx="7264400" cy="630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1600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B1E50D-FAB9-29F7-21CA-D80A0B41AF11}"/>
              </a:ext>
            </a:extLst>
          </p:cNvPr>
          <p:cNvSpPr/>
          <p:nvPr/>
        </p:nvSpPr>
        <p:spPr>
          <a:xfrm>
            <a:off x="1051560" y="777240"/>
            <a:ext cx="4492415" cy="478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0" b="1" dirty="0">
                <a:solidFill>
                  <a:srgbClr val="EAEEF6"/>
                </a:solidFill>
              </a:rPr>
              <a:t>05</a:t>
            </a:r>
            <a:endParaRPr lang="en-US" sz="15000" dirty="0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031511EF-B0F7-7E70-57BC-FECE45133139}"/>
              </a:ext>
            </a:extLst>
          </p:cNvPr>
          <p:cNvSpPr/>
          <p:nvPr/>
        </p:nvSpPr>
        <p:spPr>
          <a:xfrm>
            <a:off x="1771226" y="2793324"/>
            <a:ext cx="8984830" cy="957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1B3A7A"/>
                </a:solidFill>
              </a:rPr>
              <a:t>Implementation</a:t>
            </a:r>
            <a:endParaRPr lang="en-US" sz="28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C880F84C-3440-16A9-F363-B71AC990FA22}"/>
              </a:ext>
            </a:extLst>
          </p:cNvPr>
          <p:cNvSpPr/>
          <p:nvPr/>
        </p:nvSpPr>
        <p:spPr>
          <a:xfrm>
            <a:off x="11140440" y="0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4">
            <a:extLst>
              <a:ext uri="{FF2B5EF4-FFF2-40B4-BE49-F238E27FC236}">
                <a16:creationId xmlns:a16="http://schemas.microsoft.com/office/drawing/2014/main" id="{A09DF3AF-6780-4A74-D210-BADC4245FC05}"/>
              </a:ext>
            </a:extLst>
          </p:cNvPr>
          <p:cNvSpPr/>
          <p:nvPr/>
        </p:nvSpPr>
        <p:spPr>
          <a:xfrm>
            <a:off x="11597640" y="0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C5D959D-AAFB-926D-D049-E1D7C1AA8C1F}"/>
              </a:ext>
            </a:extLst>
          </p:cNvPr>
          <p:cNvSpPr/>
          <p:nvPr/>
        </p:nvSpPr>
        <p:spPr>
          <a:xfrm>
            <a:off x="0" y="6057900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F87F617-16EF-80E6-E827-8D67DF36A337}"/>
              </a:ext>
            </a:extLst>
          </p:cNvPr>
          <p:cNvSpPr/>
          <p:nvPr/>
        </p:nvSpPr>
        <p:spPr>
          <a:xfrm>
            <a:off x="0" y="6405372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9FF81A46-5AA5-3F7D-1768-BDCD90EA246C}"/>
              </a:ext>
            </a:extLst>
          </p:cNvPr>
          <p:cNvSpPr/>
          <p:nvPr/>
        </p:nvSpPr>
        <p:spPr>
          <a:xfrm>
            <a:off x="1656078" y="2793324"/>
            <a:ext cx="7226050" cy="45719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26">
            <a:extLst>
              <a:ext uri="{FF2B5EF4-FFF2-40B4-BE49-F238E27FC236}">
                <a16:creationId xmlns:a16="http://schemas.microsoft.com/office/drawing/2014/main" id="{30C76FC1-600E-6A7A-757E-88888E4B7E83}"/>
              </a:ext>
            </a:extLst>
          </p:cNvPr>
          <p:cNvSpPr/>
          <p:nvPr/>
        </p:nvSpPr>
        <p:spPr>
          <a:xfrm>
            <a:off x="11677227" y="6405372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10" name="Text 27">
            <a:extLst>
              <a:ext uri="{FF2B5EF4-FFF2-40B4-BE49-F238E27FC236}">
                <a16:creationId xmlns:a16="http://schemas.microsoft.com/office/drawing/2014/main" id="{7BD57A9A-F89B-7E8A-CA1F-D5C5A487771F}"/>
              </a:ext>
            </a:extLst>
          </p:cNvPr>
          <p:cNvSpPr/>
          <p:nvPr/>
        </p:nvSpPr>
        <p:spPr>
          <a:xfrm>
            <a:off x="11668760" y="64053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18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782016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>
            <a:extLst>
              <a:ext uri="{FF2B5EF4-FFF2-40B4-BE49-F238E27FC236}">
                <a16:creationId xmlns:a16="http://schemas.microsoft.com/office/drawing/2014/main" id="{5823E91B-3D6C-9B0E-41C5-E9C83FB944F4}"/>
              </a:ext>
            </a:extLst>
          </p:cNvPr>
          <p:cNvSpPr/>
          <p:nvPr/>
        </p:nvSpPr>
        <p:spPr>
          <a:xfrm>
            <a:off x="11140440" y="1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FAC6936D-25DB-C000-02CA-2EF649D8B3AC}"/>
              </a:ext>
            </a:extLst>
          </p:cNvPr>
          <p:cNvSpPr/>
          <p:nvPr/>
        </p:nvSpPr>
        <p:spPr>
          <a:xfrm>
            <a:off x="11597640" y="1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2">
            <a:extLst>
              <a:ext uri="{FF2B5EF4-FFF2-40B4-BE49-F238E27FC236}">
                <a16:creationId xmlns:a16="http://schemas.microsoft.com/office/drawing/2014/main" id="{0FC55D33-24AA-E0DC-F822-734C1651BE5B}"/>
              </a:ext>
            </a:extLst>
          </p:cNvPr>
          <p:cNvSpPr/>
          <p:nvPr/>
        </p:nvSpPr>
        <p:spPr>
          <a:xfrm>
            <a:off x="0" y="6057901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37335B73-3E70-81D1-B42B-EC34A0A0710F}"/>
              </a:ext>
            </a:extLst>
          </p:cNvPr>
          <p:cNvSpPr/>
          <p:nvPr/>
        </p:nvSpPr>
        <p:spPr>
          <a:xfrm>
            <a:off x="0" y="6405373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44898442-B00E-DC06-6264-53ACADC0247C}"/>
              </a:ext>
            </a:extLst>
          </p:cNvPr>
          <p:cNvSpPr/>
          <p:nvPr/>
        </p:nvSpPr>
        <p:spPr>
          <a:xfrm>
            <a:off x="320040" y="155449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5">
            <a:extLst>
              <a:ext uri="{FF2B5EF4-FFF2-40B4-BE49-F238E27FC236}">
                <a16:creationId xmlns:a16="http://schemas.microsoft.com/office/drawing/2014/main" id="{55B2C654-F8BF-DEA5-4398-873627D19AB8}"/>
              </a:ext>
            </a:extLst>
          </p:cNvPr>
          <p:cNvSpPr/>
          <p:nvPr/>
        </p:nvSpPr>
        <p:spPr>
          <a:xfrm>
            <a:off x="475488" y="118873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B3A7A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18" name="Shape 26">
            <a:extLst>
              <a:ext uri="{FF2B5EF4-FFF2-40B4-BE49-F238E27FC236}">
                <a16:creationId xmlns:a16="http://schemas.microsoft.com/office/drawing/2014/main" id="{CBA33A0C-4FF7-6C41-02B5-D0A17D4096E6}"/>
              </a:ext>
            </a:extLst>
          </p:cNvPr>
          <p:cNvSpPr/>
          <p:nvPr/>
        </p:nvSpPr>
        <p:spPr>
          <a:xfrm>
            <a:off x="11677227" y="6405373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19" name="Text 27">
            <a:extLst>
              <a:ext uri="{FF2B5EF4-FFF2-40B4-BE49-F238E27FC236}">
                <a16:creationId xmlns:a16="http://schemas.microsoft.com/office/drawing/2014/main" id="{A85121F1-EA6A-448C-B7C6-CC60BE7004C4}"/>
              </a:ext>
            </a:extLst>
          </p:cNvPr>
          <p:cNvSpPr/>
          <p:nvPr/>
        </p:nvSpPr>
        <p:spPr>
          <a:xfrm>
            <a:off x="11668760" y="6405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19</a:t>
            </a:r>
            <a:endParaRPr lang="en-US" sz="14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44953BE3-3308-1248-8977-A067DD092D51}"/>
              </a:ext>
            </a:extLst>
          </p:cNvPr>
          <p:cNvSpPr/>
          <p:nvPr/>
        </p:nvSpPr>
        <p:spPr>
          <a:xfrm>
            <a:off x="5139267" y="2651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b="1" dirty="0">
                <a:solidFill>
                  <a:srgbClr val="1B3A7A"/>
                </a:solidFill>
              </a:rPr>
              <a:t>Methodology </a:t>
            </a:r>
            <a:r>
              <a:rPr lang="en-US" sz="1200" dirty="0">
                <a:solidFill>
                  <a:srgbClr val="94A3B8"/>
                </a:solidFill>
              </a:rPr>
              <a:t>| Sprint Planning | Interface Realization</a:t>
            </a:r>
            <a:endParaRPr lang="en-US" sz="1200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520E6501-D916-586A-4294-8F4A31E068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466" y="832104"/>
            <a:ext cx="8357067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0187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13">
            <a:extLst>
              <a:ext uri="{FF2B5EF4-FFF2-40B4-BE49-F238E27FC236}">
                <a16:creationId xmlns:a16="http://schemas.microsoft.com/office/drawing/2014/main" id="{1F21F519-D1D1-FCD8-906A-FC518860545C}"/>
              </a:ext>
            </a:extLst>
          </p:cNvPr>
          <p:cNvSpPr/>
          <p:nvPr/>
        </p:nvSpPr>
        <p:spPr>
          <a:xfrm>
            <a:off x="2361181" y="1599443"/>
            <a:ext cx="7488942" cy="416305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63" name="Text 14">
            <a:extLst>
              <a:ext uri="{FF2B5EF4-FFF2-40B4-BE49-F238E27FC236}">
                <a16:creationId xmlns:a16="http://schemas.microsoft.com/office/drawing/2014/main" id="{1700B954-2ED2-9AD4-3D59-060B928F7AA3}"/>
              </a:ext>
            </a:extLst>
          </p:cNvPr>
          <p:cNvSpPr/>
          <p:nvPr/>
        </p:nvSpPr>
        <p:spPr>
          <a:xfrm>
            <a:off x="3591052" y="165574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Sprint Planning</a:t>
            </a:r>
            <a:endParaRPr lang="en-US" sz="1600" dirty="0"/>
          </a:p>
        </p:txBody>
      </p:sp>
      <p:sp>
        <p:nvSpPr>
          <p:cNvPr id="64" name="Shape 15">
            <a:extLst>
              <a:ext uri="{FF2B5EF4-FFF2-40B4-BE49-F238E27FC236}">
                <a16:creationId xmlns:a16="http://schemas.microsoft.com/office/drawing/2014/main" id="{E141DF52-8092-5FE9-7374-60F918A2F361}"/>
              </a:ext>
            </a:extLst>
          </p:cNvPr>
          <p:cNvSpPr/>
          <p:nvPr/>
        </p:nvSpPr>
        <p:spPr>
          <a:xfrm>
            <a:off x="2361181" y="2102103"/>
            <a:ext cx="1293706" cy="3538728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65" name="Text 16">
            <a:extLst>
              <a:ext uri="{FF2B5EF4-FFF2-40B4-BE49-F238E27FC236}">
                <a16:creationId xmlns:a16="http://schemas.microsoft.com/office/drawing/2014/main" id="{9A9D9B0C-41B6-A94E-F48D-CCA4D4EB94F7}"/>
              </a:ext>
            </a:extLst>
          </p:cNvPr>
          <p:cNvSpPr/>
          <p:nvPr/>
        </p:nvSpPr>
        <p:spPr>
          <a:xfrm>
            <a:off x="2559978" y="2214202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S1</a:t>
            </a:r>
            <a:endParaRPr lang="en-US" sz="1600" dirty="0"/>
          </a:p>
        </p:txBody>
      </p:sp>
      <p:sp>
        <p:nvSpPr>
          <p:cNvPr id="67" name="Text 17">
            <a:extLst>
              <a:ext uri="{FF2B5EF4-FFF2-40B4-BE49-F238E27FC236}">
                <a16:creationId xmlns:a16="http://schemas.microsoft.com/office/drawing/2014/main" id="{A24FF3C3-F97D-4C1A-32C1-04A4BB439EDA}"/>
              </a:ext>
            </a:extLst>
          </p:cNvPr>
          <p:cNvSpPr/>
          <p:nvPr/>
        </p:nvSpPr>
        <p:spPr>
          <a:xfrm>
            <a:off x="2361181" y="2817706"/>
            <a:ext cx="129370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Foundation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&amp; Auth</a:t>
            </a:r>
            <a:endParaRPr lang="en-US" sz="1600" dirty="0"/>
          </a:p>
        </p:txBody>
      </p:sp>
      <p:sp>
        <p:nvSpPr>
          <p:cNvPr id="69" name="Shape 19">
            <a:extLst>
              <a:ext uri="{FF2B5EF4-FFF2-40B4-BE49-F238E27FC236}">
                <a16:creationId xmlns:a16="http://schemas.microsoft.com/office/drawing/2014/main" id="{F696174C-CA2F-8983-9271-CA96064B8F04}"/>
              </a:ext>
            </a:extLst>
          </p:cNvPr>
          <p:cNvSpPr/>
          <p:nvPr/>
        </p:nvSpPr>
        <p:spPr>
          <a:xfrm>
            <a:off x="3914988" y="2102103"/>
            <a:ext cx="1298448" cy="3538728"/>
          </a:xfrm>
          <a:prstGeom prst="rect">
            <a:avLst/>
          </a:prstGeom>
          <a:solidFill>
            <a:srgbClr val="2B5BA8"/>
          </a:solidFill>
          <a:ln w="12700">
            <a:solidFill>
              <a:srgbClr val="2B5BA8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70" name="Text 20">
            <a:extLst>
              <a:ext uri="{FF2B5EF4-FFF2-40B4-BE49-F238E27FC236}">
                <a16:creationId xmlns:a16="http://schemas.microsoft.com/office/drawing/2014/main" id="{45E57F68-AC91-22E7-B168-6310F4B503BB}"/>
              </a:ext>
            </a:extLst>
          </p:cNvPr>
          <p:cNvSpPr/>
          <p:nvPr/>
        </p:nvSpPr>
        <p:spPr>
          <a:xfrm>
            <a:off x="4108364" y="2214202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S2</a:t>
            </a:r>
            <a:endParaRPr lang="en-US" sz="1600" dirty="0"/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C3C5B4E9-3F54-76F2-5346-FF2D6FC48AAA}"/>
              </a:ext>
            </a:extLst>
          </p:cNvPr>
          <p:cNvSpPr/>
          <p:nvPr/>
        </p:nvSpPr>
        <p:spPr>
          <a:xfrm>
            <a:off x="4076360" y="2817706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Projects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&amp; Tasks</a:t>
            </a:r>
            <a:endParaRPr lang="en-US" sz="1600" dirty="0"/>
          </a:p>
        </p:txBody>
      </p:sp>
      <p:sp>
        <p:nvSpPr>
          <p:cNvPr id="75" name="Shape 23">
            <a:extLst>
              <a:ext uri="{FF2B5EF4-FFF2-40B4-BE49-F238E27FC236}">
                <a16:creationId xmlns:a16="http://schemas.microsoft.com/office/drawing/2014/main" id="{FCA6DD55-632C-88F5-632E-86132C34CBBB}"/>
              </a:ext>
            </a:extLst>
          </p:cNvPr>
          <p:cNvSpPr/>
          <p:nvPr/>
        </p:nvSpPr>
        <p:spPr>
          <a:xfrm>
            <a:off x="5457953" y="2115649"/>
            <a:ext cx="1298448" cy="3538728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fr-FR" sz="1600" dirty="0"/>
          </a:p>
        </p:txBody>
      </p:sp>
      <p:sp>
        <p:nvSpPr>
          <p:cNvPr id="92" name="Text 24">
            <a:extLst>
              <a:ext uri="{FF2B5EF4-FFF2-40B4-BE49-F238E27FC236}">
                <a16:creationId xmlns:a16="http://schemas.microsoft.com/office/drawing/2014/main" id="{7FF606CD-37F3-0528-4FE4-F38363062A2D}"/>
              </a:ext>
            </a:extLst>
          </p:cNvPr>
          <p:cNvSpPr/>
          <p:nvPr/>
        </p:nvSpPr>
        <p:spPr>
          <a:xfrm>
            <a:off x="5501408" y="2224193"/>
            <a:ext cx="121933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S3</a:t>
            </a:r>
            <a:endParaRPr lang="en-US" sz="1600" dirty="0"/>
          </a:p>
        </p:txBody>
      </p:sp>
      <p:sp>
        <p:nvSpPr>
          <p:cNvPr id="93" name="Text 25">
            <a:extLst>
              <a:ext uri="{FF2B5EF4-FFF2-40B4-BE49-F238E27FC236}">
                <a16:creationId xmlns:a16="http://schemas.microsoft.com/office/drawing/2014/main" id="{2F70A666-5D51-8DB2-42E6-B6033432F032}"/>
              </a:ext>
            </a:extLst>
          </p:cNvPr>
          <p:cNvSpPr/>
          <p:nvPr/>
        </p:nvSpPr>
        <p:spPr>
          <a:xfrm>
            <a:off x="5563618" y="2809239"/>
            <a:ext cx="1094909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Time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Tracking</a:t>
            </a:r>
            <a:endParaRPr lang="en-US" sz="1600" dirty="0"/>
          </a:p>
        </p:txBody>
      </p:sp>
      <p:sp>
        <p:nvSpPr>
          <p:cNvPr id="95" name="Shape 27">
            <a:extLst>
              <a:ext uri="{FF2B5EF4-FFF2-40B4-BE49-F238E27FC236}">
                <a16:creationId xmlns:a16="http://schemas.microsoft.com/office/drawing/2014/main" id="{11012F6F-4064-9CA7-65D0-B546259D6038}"/>
              </a:ext>
            </a:extLst>
          </p:cNvPr>
          <p:cNvSpPr/>
          <p:nvPr/>
        </p:nvSpPr>
        <p:spPr>
          <a:xfrm>
            <a:off x="7000918" y="2102103"/>
            <a:ext cx="1298448" cy="35387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96" name="Text 28">
            <a:extLst>
              <a:ext uri="{FF2B5EF4-FFF2-40B4-BE49-F238E27FC236}">
                <a16:creationId xmlns:a16="http://schemas.microsoft.com/office/drawing/2014/main" id="{B98AC731-AFDC-37ED-B290-A47AB5119C2A}"/>
              </a:ext>
            </a:extLst>
          </p:cNvPr>
          <p:cNvSpPr/>
          <p:nvPr/>
        </p:nvSpPr>
        <p:spPr>
          <a:xfrm>
            <a:off x="7205982" y="2224193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S4</a:t>
            </a:r>
            <a:endParaRPr lang="en-US" sz="1600" dirty="0"/>
          </a:p>
        </p:txBody>
      </p:sp>
      <p:sp>
        <p:nvSpPr>
          <p:cNvPr id="97" name="Text 29">
            <a:extLst>
              <a:ext uri="{FF2B5EF4-FFF2-40B4-BE49-F238E27FC236}">
                <a16:creationId xmlns:a16="http://schemas.microsoft.com/office/drawing/2014/main" id="{CDB0BB2F-9398-5D83-CC4E-90198C38C18F}"/>
              </a:ext>
            </a:extLst>
          </p:cNvPr>
          <p:cNvSpPr/>
          <p:nvPr/>
        </p:nvSpPr>
        <p:spPr>
          <a:xfrm>
            <a:off x="7251702" y="2817706"/>
            <a:ext cx="804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Client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Portal</a:t>
            </a:r>
            <a:endParaRPr lang="en-US" sz="1600" dirty="0"/>
          </a:p>
        </p:txBody>
      </p:sp>
      <p:sp>
        <p:nvSpPr>
          <p:cNvPr id="99" name="Shape 31">
            <a:extLst>
              <a:ext uri="{FF2B5EF4-FFF2-40B4-BE49-F238E27FC236}">
                <a16:creationId xmlns:a16="http://schemas.microsoft.com/office/drawing/2014/main" id="{D66E8AB3-E43F-E39B-A06B-CE56E3A961D6}"/>
              </a:ext>
            </a:extLst>
          </p:cNvPr>
          <p:cNvSpPr/>
          <p:nvPr/>
        </p:nvSpPr>
        <p:spPr>
          <a:xfrm>
            <a:off x="8551675" y="2115649"/>
            <a:ext cx="1298448" cy="3538728"/>
          </a:xfrm>
          <a:prstGeom prst="rect">
            <a:avLst/>
          </a:prstGeom>
          <a:solidFill>
            <a:srgbClr val="5AABFF"/>
          </a:solidFill>
          <a:ln w="12700">
            <a:solidFill>
              <a:srgbClr val="5AABFF"/>
            </a:solidFill>
            <a:prstDash val="solid"/>
          </a:ln>
        </p:spPr>
        <p:txBody>
          <a:bodyPr/>
          <a:lstStyle/>
          <a:p>
            <a:endParaRPr lang="fr-FR" sz="16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178DC2F8-B436-71F0-DB5E-C1AB5A63A58B}"/>
              </a:ext>
            </a:extLst>
          </p:cNvPr>
          <p:cNvSpPr/>
          <p:nvPr/>
        </p:nvSpPr>
        <p:spPr>
          <a:xfrm>
            <a:off x="8752843" y="2241634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S5</a:t>
            </a:r>
            <a:endParaRPr lang="en-US" sz="1600" dirty="0"/>
          </a:p>
        </p:txBody>
      </p:sp>
      <p:sp>
        <p:nvSpPr>
          <p:cNvPr id="101" name="Text 33">
            <a:extLst>
              <a:ext uri="{FF2B5EF4-FFF2-40B4-BE49-F238E27FC236}">
                <a16:creationId xmlns:a16="http://schemas.microsoft.com/office/drawing/2014/main" id="{8900288E-1C8C-F142-715B-0A8BD0466FB3}"/>
              </a:ext>
            </a:extLst>
          </p:cNvPr>
          <p:cNvSpPr/>
          <p:nvPr/>
        </p:nvSpPr>
        <p:spPr>
          <a:xfrm>
            <a:off x="8720839" y="2817706"/>
            <a:ext cx="960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BI &amp;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Reports</a:t>
            </a:r>
            <a:endParaRPr lang="en-US" sz="1600" dirty="0"/>
          </a:p>
        </p:txBody>
      </p:sp>
      <p:sp>
        <p:nvSpPr>
          <p:cNvPr id="111" name="Shape 0">
            <a:extLst>
              <a:ext uri="{FF2B5EF4-FFF2-40B4-BE49-F238E27FC236}">
                <a16:creationId xmlns:a16="http://schemas.microsoft.com/office/drawing/2014/main" id="{794DB0BD-BF74-2C78-B308-B0ECA3B5425E}"/>
              </a:ext>
            </a:extLst>
          </p:cNvPr>
          <p:cNvSpPr/>
          <p:nvPr/>
        </p:nvSpPr>
        <p:spPr>
          <a:xfrm>
            <a:off x="11140440" y="1"/>
            <a:ext cx="1051560" cy="77724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2" name="Shape 1">
            <a:extLst>
              <a:ext uri="{FF2B5EF4-FFF2-40B4-BE49-F238E27FC236}">
                <a16:creationId xmlns:a16="http://schemas.microsoft.com/office/drawing/2014/main" id="{08ADFD64-736E-52BA-378C-C4FBEDC7759D}"/>
              </a:ext>
            </a:extLst>
          </p:cNvPr>
          <p:cNvSpPr/>
          <p:nvPr/>
        </p:nvSpPr>
        <p:spPr>
          <a:xfrm>
            <a:off x="11597640" y="1"/>
            <a:ext cx="594360" cy="4114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3" name="Shape 2">
            <a:extLst>
              <a:ext uri="{FF2B5EF4-FFF2-40B4-BE49-F238E27FC236}">
                <a16:creationId xmlns:a16="http://schemas.microsoft.com/office/drawing/2014/main" id="{358EDBDC-6583-4EBC-739B-AF7929B829F2}"/>
              </a:ext>
            </a:extLst>
          </p:cNvPr>
          <p:cNvSpPr/>
          <p:nvPr/>
        </p:nvSpPr>
        <p:spPr>
          <a:xfrm>
            <a:off x="0" y="6057901"/>
            <a:ext cx="1051560" cy="8001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4" name="Shape 3">
            <a:extLst>
              <a:ext uri="{FF2B5EF4-FFF2-40B4-BE49-F238E27FC236}">
                <a16:creationId xmlns:a16="http://schemas.microsoft.com/office/drawing/2014/main" id="{698E96B8-BBBF-FF12-BAA6-1B4C63F3B5C0}"/>
              </a:ext>
            </a:extLst>
          </p:cNvPr>
          <p:cNvSpPr/>
          <p:nvPr/>
        </p:nvSpPr>
        <p:spPr>
          <a:xfrm>
            <a:off x="0" y="6405373"/>
            <a:ext cx="594360" cy="45262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5" name="Shape 4">
            <a:extLst>
              <a:ext uri="{FF2B5EF4-FFF2-40B4-BE49-F238E27FC236}">
                <a16:creationId xmlns:a16="http://schemas.microsoft.com/office/drawing/2014/main" id="{F8F9706E-B383-B913-87EB-4DB687205421}"/>
              </a:ext>
            </a:extLst>
          </p:cNvPr>
          <p:cNvSpPr/>
          <p:nvPr/>
        </p:nvSpPr>
        <p:spPr>
          <a:xfrm>
            <a:off x="320040" y="155449"/>
            <a:ext cx="64008" cy="457200"/>
          </a:xfrm>
          <a:prstGeom prst="rect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587F5FA3-17E9-9401-26E7-BD3DD845E50B}"/>
              </a:ext>
            </a:extLst>
          </p:cNvPr>
          <p:cNvSpPr/>
          <p:nvPr/>
        </p:nvSpPr>
        <p:spPr>
          <a:xfrm>
            <a:off x="475488" y="118873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1B3A7A"/>
                </a:solidFill>
              </a:rPr>
              <a:t>Implementation</a:t>
            </a:r>
            <a:endParaRPr lang="en-US" sz="2000" dirty="0"/>
          </a:p>
        </p:txBody>
      </p:sp>
      <p:sp>
        <p:nvSpPr>
          <p:cNvPr id="117" name="Shape 26">
            <a:extLst>
              <a:ext uri="{FF2B5EF4-FFF2-40B4-BE49-F238E27FC236}">
                <a16:creationId xmlns:a16="http://schemas.microsoft.com/office/drawing/2014/main" id="{BE7DBA29-9CFC-F234-D40F-77C81478CBB5}"/>
              </a:ext>
            </a:extLst>
          </p:cNvPr>
          <p:cNvSpPr/>
          <p:nvPr/>
        </p:nvSpPr>
        <p:spPr>
          <a:xfrm>
            <a:off x="11677227" y="6405373"/>
            <a:ext cx="365760" cy="365760"/>
          </a:xfrm>
          <a:prstGeom prst="ellipse">
            <a:avLst/>
          </a:prstGeom>
          <a:solidFill>
            <a:srgbClr val="1B3A7A"/>
          </a:solidFill>
          <a:ln w="12700">
            <a:solidFill>
              <a:srgbClr val="1B3A7A"/>
            </a:solidFill>
            <a:prstDash val="solid"/>
          </a:ln>
        </p:spPr>
        <p:txBody>
          <a:bodyPr/>
          <a:lstStyle/>
          <a:p>
            <a:endParaRPr lang="fr-FR" sz="1400"/>
          </a:p>
        </p:txBody>
      </p:sp>
      <p:sp>
        <p:nvSpPr>
          <p:cNvPr id="118" name="Text 27">
            <a:extLst>
              <a:ext uri="{FF2B5EF4-FFF2-40B4-BE49-F238E27FC236}">
                <a16:creationId xmlns:a16="http://schemas.microsoft.com/office/drawing/2014/main" id="{8024F743-200E-AB91-F462-65A33B348FF1}"/>
              </a:ext>
            </a:extLst>
          </p:cNvPr>
          <p:cNvSpPr/>
          <p:nvPr/>
        </p:nvSpPr>
        <p:spPr>
          <a:xfrm>
            <a:off x="11668760" y="6405373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20</a:t>
            </a:r>
            <a:endParaRPr lang="en-US" sz="1400" dirty="0"/>
          </a:p>
        </p:txBody>
      </p:sp>
      <p:sp>
        <p:nvSpPr>
          <p:cNvPr id="119" name="Text 6">
            <a:extLst>
              <a:ext uri="{FF2B5EF4-FFF2-40B4-BE49-F238E27FC236}">
                <a16:creationId xmlns:a16="http://schemas.microsoft.com/office/drawing/2014/main" id="{A7634887-B4B8-4AC5-BFF3-B36E056113DD}"/>
              </a:ext>
            </a:extLst>
          </p:cNvPr>
          <p:cNvSpPr/>
          <p:nvPr/>
        </p:nvSpPr>
        <p:spPr>
          <a:xfrm>
            <a:off x="5139267" y="26517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94A3B8"/>
                </a:solidFill>
              </a:rPr>
              <a:t>Methodology</a:t>
            </a:r>
            <a:r>
              <a:rPr lang="en-US" sz="1200" b="1" dirty="0">
                <a:solidFill>
                  <a:srgbClr val="1B3A7A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| </a:t>
            </a:r>
            <a:r>
              <a:rPr lang="en-US" sz="1200" b="1" dirty="0">
                <a:solidFill>
                  <a:srgbClr val="1B3A7A"/>
                </a:solidFill>
              </a:rPr>
              <a:t>Sprint Planning</a:t>
            </a:r>
            <a:r>
              <a:rPr lang="en-US" sz="1200" b="1" dirty="0">
                <a:solidFill>
                  <a:srgbClr val="94A3B8"/>
                </a:solidFill>
              </a:rPr>
              <a:t> </a:t>
            </a:r>
            <a:r>
              <a:rPr lang="en-US" sz="1200" dirty="0">
                <a:solidFill>
                  <a:srgbClr val="94A3B8"/>
                </a:solidFill>
              </a:rPr>
              <a:t>| Interface Realization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10452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4929</TotalTime>
  <Words>801</Words>
  <Application>Microsoft Office PowerPoint</Application>
  <PresentationFormat>Widescreen</PresentationFormat>
  <Paragraphs>202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Barlow Semi Condensed</vt:lpstr>
      <vt:lpstr>Raleway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Heni Haider</dc:creator>
  <cp:lastModifiedBy>mlikamahdi</cp:lastModifiedBy>
  <cp:revision>251</cp:revision>
  <dcterms:created xsi:type="dcterms:W3CDTF">2024-05-20T11:13:22Z</dcterms:created>
  <dcterms:modified xsi:type="dcterms:W3CDTF">2026-06-07T16:13:00Z</dcterms:modified>
</cp:coreProperties>
</file>